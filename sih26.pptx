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57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98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83850-8832-3F50-32DB-8104ACC4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8FB80-23F6-E0A5-0C74-D23B1E147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A82C3-48F7-4F4A-B149-390BC795C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E5B91-1229-2371-1CDF-D0C0CB5A9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18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25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46777" y="19444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75180" y="214816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5486" y="1744693"/>
            <a:ext cx="592455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SIH26145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AI-Based Detection of Cyber Threats in Unidirectional IP Traffic</a:t>
            </a:r>
          </a:p>
          <a:p>
            <a:pPr algn="just">
              <a:lnSpc>
                <a:spcPct val="100000"/>
              </a:lnSpc>
            </a:pPr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Blockchain &amp; Cybersecurity  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I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resurrecci</a:t>
            </a:r>
            <a:r>
              <a:rPr lang="en-IN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n-IN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554" y="199410"/>
            <a:ext cx="1767520" cy="89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76295EB-B69E-6273-F366-D0A974A7A895}"/>
              </a:ext>
            </a:extLst>
          </p:cNvPr>
          <p:cNvSpPr/>
          <p:nvPr/>
        </p:nvSpPr>
        <p:spPr>
          <a:xfrm>
            <a:off x="8457765" y="944980"/>
            <a:ext cx="3622391" cy="19476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just" defTabSz="914400" eaLnBrk="0" hangingPunct="0"/>
            <a:endParaRPr lang="en-US" altLang="en-US" sz="1000" b="1" dirty="0">
              <a:solidFill>
                <a:schemeClr val="tx1"/>
              </a:solidFill>
              <a:latin typeface="Arial Nova Cond" panose="020B0506020202020204" pitchFamily="34" charset="0"/>
              <a:cs typeface="Times New Roman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306867" y="744380"/>
            <a:ext cx="8053362" cy="2264595"/>
          </a:xfrm>
          <a:prstGeom prst="roundRect">
            <a:avLst>
              <a:gd name="adj" fmla="val 1852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0" descr="/home/claude/ppt/assets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03" y="817532"/>
            <a:ext cx="7955826" cy="199547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E71C849-3C2E-A17E-2B9E-025540FE8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943" y="1254686"/>
            <a:ext cx="1067091" cy="104601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7A4363-1FC5-2F1B-A488-B45326D87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181" y="1223659"/>
            <a:ext cx="966816" cy="1046012"/>
          </a:xfrm>
          <a:prstGeom prst="rect">
            <a:avLst/>
          </a:prstGeom>
        </p:spPr>
      </p:pic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D5E71B3-CC77-FCBF-D637-17DE10D05675}"/>
              </a:ext>
            </a:extLst>
          </p:cNvPr>
          <p:cNvCxnSpPr>
            <a:cxnSpLocks/>
            <a:stCxn id="29" idx="0"/>
            <a:endCxn id="30" idx="0"/>
          </p:cNvCxnSpPr>
          <p:nvPr/>
        </p:nvCxnSpPr>
        <p:spPr>
          <a:xfrm rot="16200000" flipV="1">
            <a:off x="6056026" y="654223"/>
            <a:ext cx="31027" cy="1169900"/>
          </a:xfrm>
          <a:prstGeom prst="bentConnector3">
            <a:avLst>
              <a:gd name="adj1" fmla="val 8367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4"/>
          <p:cNvSpPr txBox="1"/>
          <p:nvPr/>
        </p:nvSpPr>
        <p:spPr>
          <a:xfrm>
            <a:off x="5788691" y="3194471"/>
            <a:ext cx="41217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600" u="sng" dirty="0"/>
          </a:p>
        </p:txBody>
      </p:sp>
      <p:sp>
        <p:nvSpPr>
          <p:cNvPr id="8" name="Text 5"/>
          <p:cNvSpPr txBox="1"/>
          <p:nvPr/>
        </p:nvSpPr>
        <p:spPr>
          <a:xfrm>
            <a:off x="404403" y="3539631"/>
            <a:ext cx="1133173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two-model agentic cascade. The Inspector — a graph autoencoder — learns each host's own normal, unsupervised, during commissioning. The Sentry, 13.7× smaller, runs always-on and decides what deserves the Inspector. Both sit on a Tier-1 pipeline of six ONNX experts whose per-event outputs are auto-routed to the right model and fused into one correlated kill chain — capture → parse → resolve → featurism → route → judge → report, with no human in the loop until the verdict.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851357" y="435731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851357" y="4643772"/>
            <a:ext cx="304777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signature, no bad domain, no decryption, no agent on the host. It works behind a data diode where the return channel is invisible, and on IoT/OT/BYOD that cannot run an agent. The intelligence is a passive, self-directed pipeline: it routes each event to the right expert, escalates on its own budget, and correlates — but it never acts on the network. Detection is autonomous; response stays with the analyst.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290471" y="1012197"/>
            <a:ext cx="24456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1150" u="sng" dirty="0"/>
          </a:p>
        </p:txBody>
      </p:sp>
      <p:sp>
        <p:nvSpPr>
          <p:cNvPr id="14" name="Text 11"/>
          <p:cNvSpPr txBox="1"/>
          <p:nvPr/>
        </p:nvSpPr>
        <p:spPr>
          <a:xfrm>
            <a:off x="8597047" y="1203597"/>
            <a:ext cx="33649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Cross-service category-transition sequence semantics: the ORDER of service categories, scored per host, as the detection signal. A 91-study review of graph-based NIDS found no published system doing this. The Inspector architecture itself is prior art (GraphIDS, arXiv:2509.16625) and we say so. What is ours is the agentic orchestration around it — a self-routing seven-stage pipeline that pushes only the top-5% host-days to the heavy model and returns a single, ordered, evidence-backed chain.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91885" y="4332393"/>
            <a:ext cx="23023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NOTHING CATCHES IT TODAY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91885" y="4594632"/>
            <a:ext cx="3806404" cy="1931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IDS needs a known bad. Domain and DNS filters need a bad domain. DPI needs plaintext — and 61% of encrypted web traffic on our own measured capture was QUIC. EDR needs an agent on the host. A Living-off-Trusted-Sites chain defeats all four at once, because every hop is a legitimate allow-listed service and each request in isolation looks like a developer doing their job. Only an agent that reasons over the sequence across services, not any single request, surfaces the chain — which is exactly what our pipeline is built to do.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517904" y="4336829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ESCALATES BACK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475376" y="4609146"/>
            <a:ext cx="3260761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Host-days the Sentry ranks in the top 5% return to the Inspector, which re-runs on those only and emits ONE alert carrying the four timestamped chain steps — not four disconnected alerts an analyst has to correlate by hand. This closed re-escalation loop is the agentic core: the cheap router decides, the expert confirms, and the pipeline hands back a finished, ordered verdict. Measured: 96.9% ± 1.1 of the Inspector's flags recovered at that 5% budget, over 3 seeds.</a:t>
            </a:r>
            <a:endParaRPr lang="en-US" sz="1100" dirty="0"/>
          </a:p>
        </p:txBody>
      </p:sp>
      <p:sp>
        <p:nvSpPr>
          <p:cNvPr id="2" name="Text 0"/>
          <p:cNvSpPr txBox="1"/>
          <p:nvPr/>
        </p:nvSpPr>
        <p:spPr>
          <a:xfrm>
            <a:off x="518160" y="163171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5" name="Text 13">
            <a:extLst>
              <a:ext uri="{FF2B5EF4-FFF2-40B4-BE49-F238E27FC236}">
                <a16:creationId xmlns:a16="http://schemas.microsoft.com/office/drawing/2014/main" id="{AA57ACB8-BB29-3A8D-07CA-56377583D49E}"/>
              </a:ext>
            </a:extLst>
          </p:cNvPr>
          <p:cNvSpPr txBox="1"/>
          <p:nvPr/>
        </p:nvSpPr>
        <p:spPr>
          <a:xfrm>
            <a:off x="306867" y="6377230"/>
            <a:ext cx="5179722" cy="480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LINK:   </a:t>
            </a:r>
            <a:r>
              <a:rPr lang="en-US" sz="1400" b="1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https://github.com/qwertyuiopas17/netsentinel </a:t>
            </a:r>
            <a:endParaRPr lang="en-US" sz="1400" u="sng" dirty="0">
              <a:solidFill>
                <a:srgbClr val="0070C0"/>
              </a:solidFill>
            </a:endParaRPr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1B064FC4-B16E-1E50-D481-2C5EEABF5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19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53A030A-7F1A-8116-AE4A-AFFC6F63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6955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1" name="Footer Placeholder 6">
            <a:extLst>
              <a:ext uri="{FF2B5EF4-FFF2-40B4-BE49-F238E27FC236}">
                <a16:creationId xmlns:a16="http://schemas.microsoft.com/office/drawing/2014/main" id="{D6BF5466-BF1B-7B22-00DA-4547B0C22CD4}"/>
              </a:ext>
            </a:extLst>
          </p:cNvPr>
          <p:cNvSpPr txBox="1">
            <a:spLocks/>
          </p:cNvSpPr>
          <p:nvPr/>
        </p:nvSpPr>
        <p:spPr>
          <a:xfrm>
            <a:off x="4917402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3C8FC-0F7F-DC90-0297-17AE8FA6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5323FA6-38BE-40C6-6DF1-27BD02AA2895}"/>
              </a:ext>
            </a:extLst>
          </p:cNvPr>
          <p:cNvSpPr/>
          <p:nvPr/>
        </p:nvSpPr>
        <p:spPr>
          <a:xfrm>
            <a:off x="249334" y="5658082"/>
            <a:ext cx="11848110" cy="860730"/>
          </a:xfrm>
          <a:prstGeom prst="roundRect">
            <a:avLst/>
          </a:prstGeom>
          <a:ln>
            <a:solidFill>
              <a:schemeClr val="tx1"/>
            </a:solidFill>
          </a:ln>
          <a:effectLst>
            <a:softEdge rad="12700"/>
          </a:effectLst>
        </p:spPr>
        <p:style>
          <a:lnRef idx="2">
            <a:schemeClr val="dk1"/>
          </a:lnRef>
          <a:fillRef idx="1001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68665-A9DD-75EA-F477-928D19E2DD83}"/>
              </a:ext>
            </a:extLst>
          </p:cNvPr>
          <p:cNvSpPr/>
          <p:nvPr/>
        </p:nvSpPr>
        <p:spPr>
          <a:xfrm>
            <a:off x="6520068" y="787799"/>
            <a:ext cx="5427026" cy="3280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1720245-22E5-86F2-A937-F7FD739FD2C4}"/>
              </a:ext>
            </a:extLst>
          </p:cNvPr>
          <p:cNvSpPr txBox="1"/>
          <p:nvPr/>
        </p:nvSpPr>
        <p:spPr>
          <a:xfrm>
            <a:off x="382914" y="-71759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615964-4864-A30A-8E8C-7CC7F572457A}"/>
              </a:ext>
            </a:extLst>
          </p:cNvPr>
          <p:cNvSpPr txBox="1"/>
          <p:nvPr/>
        </p:nvSpPr>
        <p:spPr>
          <a:xfrm>
            <a:off x="231232" y="537703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5A139-746C-4591-2AC8-11605025ED53}"/>
              </a:ext>
            </a:extLst>
          </p:cNvPr>
          <p:cNvSpPr txBox="1"/>
          <p:nvPr/>
        </p:nvSpPr>
        <p:spPr>
          <a:xfrm rot="19992576">
            <a:off x="7324023" y="2483085"/>
            <a:ext cx="3375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INSERT SITE PAGE IMAGE</a:t>
            </a:r>
            <a:endParaRPr lang="en-IN" sz="2400" b="1" dirty="0">
              <a:solidFill>
                <a:srgbClr val="C00000"/>
              </a:solidFill>
            </a:endParaRPr>
          </a:p>
        </p:txBody>
      </p:sp>
      <p:pic>
        <p:nvPicPr>
          <p:cNvPr id="7" name="Picture 2" descr="https://www.sih.gov.in/img1/SIH-Logo.png">
            <a:extLst>
              <a:ext uri="{FF2B5EF4-FFF2-40B4-BE49-F238E27FC236}">
                <a16:creationId xmlns:a16="http://schemas.microsoft.com/office/drawing/2014/main" id="{FE08A2DD-C69B-35CF-5D74-AAA804E7C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1908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5467097A-DE7E-BD54-D644-29F44AE622ED}"/>
              </a:ext>
            </a:extLst>
          </p:cNvPr>
          <p:cNvSpPr txBox="1">
            <a:spLocks/>
          </p:cNvSpPr>
          <p:nvPr/>
        </p:nvSpPr>
        <p:spPr>
          <a:xfrm>
            <a:off x="4853791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9A44D-1217-CB99-80CF-C2C0E130E842}"/>
              </a:ext>
            </a:extLst>
          </p:cNvPr>
          <p:cNvSpPr txBox="1"/>
          <p:nvPr/>
        </p:nvSpPr>
        <p:spPr>
          <a:xfrm>
            <a:off x="214227" y="6560011"/>
            <a:ext cx="11423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</a:rPr>
              <a:t>Document link:    https://1drv.ms/w/c/e7784e622ae4d2bd/IQBKv40J2VFuS5Qz89qppSyIAUmAgOKZeacWCUSTfnbM4MI?e=tT2O60</a:t>
            </a:r>
            <a:endParaRPr lang="en-IN" sz="1600" b="1" u="sng" dirty="0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4DFC7-A686-81F8-F729-795AE4B56DFF}"/>
              </a:ext>
            </a:extLst>
          </p:cNvPr>
          <p:cNvSpPr txBox="1"/>
          <p:nvPr/>
        </p:nvSpPr>
        <p:spPr>
          <a:xfrm>
            <a:off x="8657509" y="4063515"/>
            <a:ext cx="60946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1" u="sng" dirty="0">
                <a:solidFill>
                  <a:srgbClr val="C00000"/>
                </a:solidFill>
              </a:rPr>
              <a:t>PUT CAPTION</a:t>
            </a:r>
            <a:endParaRPr lang="en-IN" sz="1050" b="1" i="1" u="sng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254F5C-25A5-8A2A-8D22-9E28E2A1B2D5}"/>
              </a:ext>
            </a:extLst>
          </p:cNvPr>
          <p:cNvSpPr txBox="1"/>
          <p:nvPr/>
        </p:nvSpPr>
        <p:spPr>
          <a:xfrm>
            <a:off x="312223" y="5624525"/>
            <a:ext cx="1178522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BLOCKCHAIN LEDGER — </a:t>
            </a:r>
            <a:r>
              <a:rPr lang="en-US" sz="1100" dirty="0"/>
              <a:t>TAMPER-EVIDENT ALERT AUDIT:   Every alert the engine emits is written to an append-only, hash-chained ledger before it reaches the dashboard. Each record stores the alert, and the SHA-256 hash of the previous record — so any edit or deletion breaks the chain and is instantly detectable. This gives critical-infrastructure operators a cryptographically verifiable, non-repudiable audit trail for incident forensics. Implementation: alerts are serialized → SHA-256 hashed → linked (Prev-hash) into a local ledger written alongside the Fast API alert hub; for multi-site deployments this extends to a permissioned chain (Hyperledger Fabric) so no single operator can rewrite history. It is an integrity layer, not a detection layer — it records verdicts, it never makes them.</a:t>
            </a:r>
            <a:endParaRPr lang="en-IN" sz="1100" dirty="0"/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57DB4A45-542F-EF05-D79E-F1F9E22A5F7E}"/>
              </a:ext>
            </a:extLst>
          </p:cNvPr>
          <p:cNvSpPr/>
          <p:nvPr/>
        </p:nvSpPr>
        <p:spPr>
          <a:xfrm>
            <a:off x="-45124" y="976697"/>
            <a:ext cx="357894" cy="6026771"/>
          </a:xfrm>
          <a:prstGeom prst="bentArrow">
            <a:avLst>
              <a:gd name="adj1" fmla="val 32762"/>
              <a:gd name="adj2" fmla="val 16381"/>
              <a:gd name="adj3" fmla="val 37420"/>
              <a:gd name="adj4" fmla="val 43750"/>
            </a:avLst>
          </a:prstGeom>
          <a:solidFill>
            <a:schemeClr val="bg1">
              <a:lumMod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9F7AED-8900-0FAE-233B-09AB0157AF16}"/>
              </a:ext>
            </a:extLst>
          </p:cNvPr>
          <p:cNvSpPr/>
          <p:nvPr/>
        </p:nvSpPr>
        <p:spPr>
          <a:xfrm>
            <a:off x="244906" y="1665082"/>
            <a:ext cx="5839303" cy="7193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sz="1050" dirty="0">
                <a:solidFill>
                  <a:schemeClr val="tx1"/>
                </a:solidFill>
                <a:latin typeface="Arial Nova Cond" panose="020B0506020202020204" pitchFamily="34" charset="0"/>
              </a:rPr>
              <a:t> E1 · </a:t>
            </a:r>
            <a:r>
              <a:rPr lang="en-US" sz="1050" b="1" dirty="0">
                <a:solidFill>
                  <a:schemeClr val="tx1"/>
                </a:solidFill>
                <a:latin typeface="Arial Nova Cond" panose="020B0506020202020204" pitchFamily="34" charset="0"/>
              </a:rPr>
              <a:t>DDoS Detection</a:t>
            </a:r>
            <a:r>
              <a:rPr lang="en-US" sz="1050" dirty="0">
                <a:solidFill>
                  <a:schemeClr val="tx1"/>
                </a:solidFill>
                <a:latin typeface="Arial Nova Cond" panose="020B0506020202020204" pitchFamily="34" charset="0"/>
              </a:rPr>
              <a:t>: XGBoost (3,000 trees) trained on CIC-DDoS2019 (2.5M flows). Detects volumetric and application-layer floods from flow-rate, timing regularity and TCP-flag asymmetry, with a rate-guard to suppress false positives. F1 99.3%.</a:t>
            </a:r>
            <a:endParaRPr lang="en-US" altLang="en-US" sz="1050" dirty="0">
              <a:solidFill>
                <a:schemeClr val="tx1"/>
              </a:solidFill>
              <a:latin typeface="Arial Nova Cond" panose="020B0506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A90B0AF-4544-A58C-DAC8-1942A69F63C5}"/>
              </a:ext>
            </a:extLst>
          </p:cNvPr>
          <p:cNvSpPr>
            <a:spLocks/>
          </p:cNvSpPr>
          <p:nvPr/>
        </p:nvSpPr>
        <p:spPr>
          <a:xfrm>
            <a:off x="409520" y="537703"/>
            <a:ext cx="5654048" cy="106956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 b="1" u="sng" dirty="0">
                <a:solidFill>
                  <a:schemeClr val="tx1"/>
                </a:solidFill>
                <a:latin typeface="Arial Nova Cond" panose="020B0506020202020204" pitchFamily="34" charset="0"/>
              </a:rPr>
              <a:t>Net Sentinel is a passive, agentless NIDS for data-diode-protected critical infrastructure. It routes every event to one of six behavioral experts, then fuses their verdicts into a single correlated kill chain — headers only, never payload.</a:t>
            </a:r>
            <a:endParaRPr lang="en-IN" sz="1200" b="1" dirty="0">
              <a:solidFill>
                <a:schemeClr val="tx1"/>
              </a:solidFill>
              <a:latin typeface="Arial Nova Cond" panose="020B0506020202020204" pitchFamily="34" charset="0"/>
              <a:cs typeface="Times New Roman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53EA8A3-BC5E-6AC0-3416-96738F9CB2BA}"/>
              </a:ext>
            </a:extLst>
          </p:cNvPr>
          <p:cNvSpPr/>
          <p:nvPr/>
        </p:nvSpPr>
        <p:spPr>
          <a:xfrm>
            <a:off x="244906" y="3223396"/>
            <a:ext cx="5893131" cy="7193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E3 · </a:t>
            </a:r>
            <a:r>
              <a:rPr lang="en-US" sz="1000" b="1" u="sng" dirty="0">
                <a:solidFill>
                  <a:schemeClr val="tx1"/>
                </a:solidFill>
                <a:latin typeface="Arial Nova Cond" panose="020B0506020202020204" pitchFamily="34" charset="0"/>
              </a:rPr>
              <a:t>Inspector–Sentry Cascade: 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Our flagship behavioral tier. The Inspector — a graph autoencoder that learns each host's own normal unsupervised during commissioning and flags when reconstruction error crosses that host's 99th percentile. The Sentry — a GRU student (14,992 params, 13.7× smaller, CPU) — runs always-on, ranks every host-hour, and escalates only the top 5% to the Inspector..</a:t>
            </a:r>
            <a:endParaRPr lang="en-US" altLang="en-US" sz="1000" dirty="0">
              <a:solidFill>
                <a:schemeClr val="tx1"/>
              </a:solidFill>
              <a:latin typeface="Arial Nova Cond" panose="020B0506020202020204" pitchFamily="34" charset="0"/>
              <a:cs typeface="Times New Roman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443641D-AA8B-A915-3531-BFFC34F6C961}"/>
              </a:ext>
            </a:extLst>
          </p:cNvPr>
          <p:cNvSpPr/>
          <p:nvPr/>
        </p:nvSpPr>
        <p:spPr>
          <a:xfrm>
            <a:off x="244906" y="3983591"/>
            <a:ext cx="5979793" cy="7192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just" eaLnBrk="0" hangingPunct="0"/>
            <a:r>
              <a:rPr lang="en-US" sz="1000" b="1" dirty="0">
                <a:solidFill>
                  <a:schemeClr val="tx1"/>
                </a:solidFill>
                <a:latin typeface="Arial Nova Cond" panose="020B0506020202020204" pitchFamily="34" charset="0"/>
              </a:rPr>
              <a:t>E4 · Encrypted Traffic / Malware FT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-Transformer (4 layers, 8 heads) on ISCX-VPN (100K flows). Classifies encrypted flows by metadata alone — no decryption — to reveal what applications ride inside a tunnel. Acc 88.0%.</a:t>
            </a:r>
            <a:endParaRPr lang="en-US" altLang="en-US" sz="1000" dirty="0">
              <a:solidFill>
                <a:schemeClr val="tx1"/>
              </a:solidFill>
              <a:latin typeface="Arial Nova Cond" panose="020B0506020202020204" pitchFamily="34" charset="0"/>
              <a:cs typeface="Times New Roman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947264F-FD2E-D05D-0F1A-C423A9C432C2}"/>
              </a:ext>
            </a:extLst>
          </p:cNvPr>
          <p:cNvSpPr/>
          <p:nvPr/>
        </p:nvSpPr>
        <p:spPr>
          <a:xfrm>
            <a:off x="199355" y="4774941"/>
            <a:ext cx="11675753" cy="82947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just" eaLnBrk="0" hangingPunct="0"/>
            <a:r>
              <a:rPr lang="en-US" sz="1000" b="1" dirty="0">
                <a:solidFill>
                  <a:schemeClr val="tx1"/>
                </a:solidFill>
                <a:latin typeface="Arial Nova Cond" panose="020B0506020202020204" pitchFamily="34" charset="0"/>
              </a:rPr>
              <a:t>E5 · Recon / Port Scan 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— XGBoost trained multi-dataset (CIC-IDS2017 · LITNET-2020 · UNSW-NB15 · CSE-CIC-IDS2018); catches the reconnaissance phase by fan-out probing across ports/hosts. F1 99.43%.</a:t>
            </a:r>
          </a:p>
          <a:p>
            <a:pPr lvl="0" algn="just" eaLnBrk="0" hangingPunct="0"/>
            <a:endParaRPr lang="en-US" sz="1000" dirty="0">
              <a:solidFill>
                <a:schemeClr val="tx1"/>
              </a:solidFill>
              <a:latin typeface="Arial Nova Cond" panose="020B0506020202020204" pitchFamily="34" charset="0"/>
            </a:endParaRPr>
          </a:p>
          <a:p>
            <a:pPr lvl="0" algn="just" eaLnBrk="0" hangingPunct="0"/>
            <a:r>
              <a:rPr lang="en-US" sz="1000" b="1" dirty="0">
                <a:solidFill>
                  <a:schemeClr val="tx1"/>
                </a:solidFill>
                <a:latin typeface="Arial Nova Cond" panose="020B0506020202020204" pitchFamily="34" charset="0"/>
              </a:rPr>
              <a:t>E6 · Data Exfiltration 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— VAE + Isolation Forest on CIC-Bell-DNS-EXF-2021; unsupervised scoring of DNS lexical features to catch tunneled exfiltration (dnscat2, iodine, Cobalt Strike DNS). F1 88.1%.</a:t>
            </a:r>
            <a:endParaRPr lang="en-US" altLang="en-US" sz="1000" dirty="0">
              <a:solidFill>
                <a:schemeClr val="tx1"/>
              </a:solidFill>
              <a:latin typeface="Arial Nova Cond" panose="020B0506020202020204" pitchFamily="34" charset="0"/>
              <a:cs typeface="Times New Roman"/>
            </a:endParaRPr>
          </a:p>
        </p:txBody>
      </p: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377000A6-AAEE-A4E3-680D-61BC6BF55BAC}"/>
              </a:ext>
            </a:extLst>
          </p:cNvPr>
          <p:cNvSpPr/>
          <p:nvPr/>
        </p:nvSpPr>
        <p:spPr>
          <a:xfrm>
            <a:off x="67309" y="5865331"/>
            <a:ext cx="293836" cy="467923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0D0FD68-9E10-A064-4E73-93BEE23CC370}"/>
              </a:ext>
            </a:extLst>
          </p:cNvPr>
          <p:cNvSpPr/>
          <p:nvPr/>
        </p:nvSpPr>
        <p:spPr>
          <a:xfrm>
            <a:off x="259925" y="2433703"/>
            <a:ext cx="5897912" cy="7193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hangingPunct="0"/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E2 · </a:t>
            </a:r>
            <a:r>
              <a:rPr lang="en-US" sz="1000" b="1" dirty="0">
                <a:solidFill>
                  <a:schemeClr val="tx1"/>
                </a:solidFill>
                <a:latin typeface="Arial Nova Cond" panose="020B0506020202020204" pitchFamily="34" charset="0"/>
              </a:rPr>
              <a:t>DGA Detection (</a:t>
            </a:r>
            <a:r>
              <a:rPr lang="en-US" sz="1000" b="1" dirty="0" err="1">
                <a:solidFill>
                  <a:schemeClr val="tx1"/>
                </a:solidFill>
                <a:latin typeface="Arial Nova Cond" panose="020B0506020202020204" pitchFamily="34" charset="0"/>
              </a:rPr>
              <a:t>DGArchive</a:t>
            </a:r>
            <a:r>
              <a:rPr lang="en-US" sz="1000" b="1" dirty="0">
                <a:solidFill>
                  <a:schemeClr val="tx1"/>
                </a:solidFill>
                <a:latin typeface="Arial Nova Cond" panose="020B0506020202020204" pitchFamily="34" charset="0"/>
              </a:rPr>
              <a:t> exclusive): 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CNN-</a:t>
            </a:r>
            <a:r>
              <a:rPr lang="en-US" sz="1000" dirty="0" err="1">
                <a:solidFill>
                  <a:schemeClr val="tx1"/>
                </a:solidFill>
                <a:latin typeface="Arial Nova Cond" panose="020B0506020202020204" pitchFamily="34" charset="0"/>
              </a:rPr>
              <a:t>BiLSTM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 + bigram model trained on </a:t>
            </a:r>
            <a:r>
              <a:rPr lang="en-US" sz="1000" dirty="0" err="1">
                <a:solidFill>
                  <a:schemeClr val="tx1"/>
                </a:solidFill>
                <a:latin typeface="Arial Nova Cond" panose="020B0506020202020204" pitchFamily="34" charset="0"/>
              </a:rPr>
              <a:t>DGArchive</a:t>
            </a:r>
            <a:r>
              <a:rPr lang="en-US" sz="1000" dirty="0">
                <a:solidFill>
                  <a:schemeClr val="tx1"/>
                </a:solidFill>
                <a:latin typeface="Arial Nova Cond" panose="020B0506020202020204" pitchFamily="34" charset="0"/>
              </a:rPr>
              <a:t> — a restricted-access, research-only corpus of 137 real malware families (474K domains) that most systems can't obtain. Reads a domain character-by-character to flag algorithmically-generated C2 domains by their high entropy. Evaluated with family-wise holdout (27 families never seen in training) for an honest 0.9787 macro-F1.</a:t>
            </a:r>
            <a:endParaRPr lang="en-US" altLang="en-US" sz="1000" dirty="0">
              <a:solidFill>
                <a:schemeClr val="tx1"/>
              </a:solidFill>
              <a:latin typeface="Arial Nova Cond" panose="020B0506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E432F-6EF8-6BAE-3B7B-A08FCF53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56" y="7062144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829FB56-8592-B12E-67DD-18F63869A6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125" y="787799"/>
            <a:ext cx="5773353" cy="354320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CD1BAB67-AA7F-B36B-74C5-1FA2AB9ADDD8}"/>
              </a:ext>
            </a:extLst>
          </p:cNvPr>
          <p:cNvSpPr txBox="1"/>
          <p:nvPr/>
        </p:nvSpPr>
        <p:spPr>
          <a:xfrm>
            <a:off x="8788400" y="4333272"/>
            <a:ext cx="739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1" u="sng" dirty="0">
                <a:solidFill>
                  <a:srgbClr val="C00000"/>
                </a:solidFill>
              </a:rPr>
              <a:t>Live Software Running (Pipeline)</a:t>
            </a:r>
            <a:endParaRPr lang="en-IN" sz="1050" b="1" i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79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3">
            <a:extLst>
              <a:ext uri="{FF2B5EF4-FFF2-40B4-BE49-F238E27FC236}">
                <a16:creationId xmlns:a16="http://schemas.microsoft.com/office/drawing/2014/main" id="{979B758F-8DE9-2EF4-5543-E51D79791D71}"/>
              </a:ext>
            </a:extLst>
          </p:cNvPr>
          <p:cNvSpPr/>
          <p:nvPr/>
        </p:nvSpPr>
        <p:spPr>
          <a:xfrm>
            <a:off x="8290560" y="1804112"/>
            <a:ext cx="3802490" cy="4219039"/>
          </a:xfrm>
          <a:prstGeom prst="roundRect">
            <a:avLst>
              <a:gd name="adj" fmla="val 407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204177" y="144301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83239" y="741059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— 1. Ins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67026" y="1889469"/>
            <a:ext cx="3607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1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PARSE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467026" y="2145501"/>
            <a:ext cx="360729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dumpcap (snaplen 512) · Zeek 6 · Npcap · hybrid extractor (CICFlowMeter flow stats + Scapy DNS/flow/session events) · scheduled task with ring-buffer pruning and a hostname-coverage audit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88077" y="3018187"/>
            <a:ext cx="36072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467026" y="3174327"/>
            <a:ext cx="360729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— six ONNX experts routed per event: DDoS (XGBoost) · DGA (CNN-BiLSTM) · DNS-exfil (VAE) · C2 beacon (BiLSTM+FFT) · encrypted traffic (FT-Transformer) · port scan (XGBoost). Tier-2 — Inspector (E-GraphSAGE + Transformer, 205,546) + GRU Sentry (14,992). PyTorch · ONNX Runtime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467026" y="4180167"/>
            <a:ext cx="35470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&amp; UI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467026" y="4436199"/>
            <a:ext cx="354705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WebSocket alert hub · React + TypeScript dashboard · force-directed threat graph · MITRE ATT&amp;CK mapping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67026" y="5083489"/>
            <a:ext cx="35470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EVALUATION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467026" y="5339521"/>
            <a:ext cx="354705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LANL cyber1 (612 hosts, 13 days, 749 real red-team events) · own 12-day multi-host capture · strictly temporal multi-seed protocol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0E9BCF-F719-8E23-1773-F00A575C1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310"/>
          <a:stretch>
            <a:fillRect/>
          </a:stretch>
        </p:blipFill>
        <p:spPr>
          <a:xfrm>
            <a:off x="177916" y="1435330"/>
            <a:ext cx="7926688" cy="4956602"/>
          </a:xfrm>
          <a:prstGeom prst="rect">
            <a:avLst/>
          </a:prstGeom>
        </p:spPr>
      </p:pic>
      <p:pic>
        <p:nvPicPr>
          <p:cNvPr id="5" name="Picture 2" descr="https://www.sih.gov.in/img1/SIH-Logo.png">
            <a:extLst>
              <a:ext uri="{FF2B5EF4-FFF2-40B4-BE49-F238E27FC236}">
                <a16:creationId xmlns:a16="http://schemas.microsoft.com/office/drawing/2014/main" id="{C39EFD2F-C630-852D-8DD6-DB15FC0EA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19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67F22E6-3B4B-48CF-BE01-B125F0C4E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6955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" name="Footer Placeholder 6">
            <a:extLst>
              <a:ext uri="{FF2B5EF4-FFF2-40B4-BE49-F238E27FC236}">
                <a16:creationId xmlns:a16="http://schemas.microsoft.com/office/drawing/2014/main" id="{C971F3CE-BE66-C279-8D37-F84968D77243}"/>
              </a:ext>
            </a:extLst>
          </p:cNvPr>
          <p:cNvSpPr txBox="1">
            <a:spLocks/>
          </p:cNvSpPr>
          <p:nvPr/>
        </p:nvSpPr>
        <p:spPr>
          <a:xfrm>
            <a:off x="4917402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7C4D275D-3706-DE80-7D97-700E7CB4E48E}"/>
              </a:ext>
            </a:extLst>
          </p:cNvPr>
          <p:cNvSpPr/>
          <p:nvPr/>
        </p:nvSpPr>
        <p:spPr>
          <a:xfrm>
            <a:off x="7215009" y="4373697"/>
            <a:ext cx="4652298" cy="1845082"/>
          </a:xfrm>
          <a:prstGeom prst="roundRect">
            <a:avLst>
              <a:gd name="adj" fmla="val 1852"/>
            </a:avLst>
          </a:prstGeom>
          <a:solidFill>
            <a:srgbClr val="232428"/>
          </a:solidFill>
          <a:ln w="9525">
            <a:solidFill>
              <a:srgbClr val="3A3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analysis, the risks we actually found, and how we are handling each one.</a:t>
            </a:r>
            <a:endParaRPr lang="en-US" sz="1350" dirty="0"/>
          </a:p>
        </p:txBody>
      </p:sp>
      <p:pic>
        <p:nvPicPr>
          <p:cNvPr id="5" name="Image 0" descr="/home/claude/ppt/assets/chart_conf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674" y="1221936"/>
            <a:ext cx="4138794" cy="25873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67262"/>
            <a:ext cx="7185122" cy="2696560"/>
          </a:xfrm>
          <a:prstGeom prst="roundRect">
            <a:avLst>
              <a:gd name="adj" fmla="val 4070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25482" y="1239168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FEASIBLE? — ALREADY BUILT AND MEASURED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58139" y="1556242"/>
            <a:ext cx="650112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Tier-1 pipeline runs end to end: an 8.8 GB capture is with 23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per-event latency in just 280 MB of RAM, auto-routing each event to the right one of six ONNX experts and raising 32,266 correlated alerts. Tier-2 (the Inspector–Sentry cascade) is measured over 3 seeds on real enterprise traffic. Every component is open source — Zeek,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ONNX Runtime,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React — with no paid API, and commissioning ran on CPU.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25482" y="2453303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3211" y="2647467"/>
            <a:ext cx="3272054" cy="85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linear in host-days, and the agentic router is cheap by design: the always-on Sentry is 14,992 parameters at ~250,000 windows/second on one CPU core, deciding per event what deserves the heavy model. Routing and correlation stay on CPU; only the top 5% of host-days reach the GPU-side Inspector — 94.7% less GPU work than inspecting everything at a 1,000-host deployment.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054482" y="2469153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36 HOURS ARE FOR</a:t>
            </a:r>
            <a:endParaRPr lang="en-US" sz="11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3982136" y="2686639"/>
            <a:ext cx="3632471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03000"/>
              </a:lnSpc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pipeline — that exists. The remaining work is the agentic escalation loop (returning the top-5% host-days to the Inspector for one fused alert), rolling re-calibration, the retention rule, and the analyst evidence panel — plus the injection experiment on our own capture.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4592063"/>
            <a:ext cx="63169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Within-host AUC 0.557 ± 0.013 against the LANL red team — chance.   </a:t>
            </a: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Attacked hosts were simply busier (0.811 vs 0.530 activity density). LANL has zero external traffic, so the cross-service hypothesis cannot fire there at all. We are capturing our own 12-day egress corpus to test it properly.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5127968"/>
            <a:ext cx="63169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threshold decays — across networks and over time.   </a:t>
            </a: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Our shift test showed the mechanism transfers (AUC −3.3%) but the 99th-percentile threshold does not: it flags 6.3% in a second organisation and 6.8% in its own later test period. Every deployment needs its own calibration window plus rolling re-calibration.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4052242"/>
            <a:ext cx="64333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b="1" u="sng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r>
              <a:rPr lang="en-US" sz="1050" b="1" u="sng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dataset can evaluate this.   → Of 124 surveyed datasets, none has multi-day egress traffic with multi-stage campaign labels. We are building the corpus — 6 machines, 12 days — and we audit our own capture with a tool that returns a pass/fail on hostname coverage.</a:t>
            </a:r>
            <a:endParaRPr lang="en-US" sz="950" b="1" u="sng" dirty="0">
              <a:solidFill>
                <a:srgbClr val="7030A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4345AA-9775-AD53-64CE-E403196225A6}"/>
              </a:ext>
            </a:extLst>
          </p:cNvPr>
          <p:cNvSpPr txBox="1"/>
          <p:nvPr/>
        </p:nvSpPr>
        <p:spPr>
          <a:xfrm>
            <a:off x="9118505" y="3794820"/>
            <a:ext cx="197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Test against LANL Red Team</a:t>
            </a:r>
            <a:endParaRPr lang="en-IN" sz="1100" b="1" i="1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C529926-66DD-D836-1708-0A4BDEA32B1E}"/>
              </a:ext>
            </a:extLst>
          </p:cNvPr>
          <p:cNvSpPr txBox="1"/>
          <p:nvPr/>
        </p:nvSpPr>
        <p:spPr>
          <a:xfrm>
            <a:off x="502920" y="5698435"/>
            <a:ext cx="63169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000"/>
              </a:lnSpc>
            </a:pPr>
            <a:r>
              <a:rPr lang="en-US" sz="950" b="1" dirty="0">
                <a:solidFill>
                  <a:srgbClr val="9A63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 </a:t>
            </a:r>
            <a:r>
              <a:rPr lang="en-US" sz="10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Fusing six signals could invent a kill chain that isn't there (over-correlation) </a:t>
            </a:r>
            <a:r>
              <a:rPr lang="en-US" sz="10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→ Correlation only links events from the same host in valid temporal order, and the service-category step is a deterministic resolver, never a model. One alert carries the four timestamped chain steps as evidence, so an analyst can verify the sequence rather than trust a black box.</a:t>
            </a:r>
            <a:endParaRPr lang="en-US" sz="950" dirty="0"/>
          </a:p>
        </p:txBody>
      </p:sp>
      <p:pic>
        <p:nvPicPr>
          <p:cNvPr id="17" name="Image 0" descr="/home/claude/ppt/assets/pipeline.png">
            <a:extLst>
              <a:ext uri="{FF2B5EF4-FFF2-40B4-BE49-F238E27FC236}">
                <a16:creationId xmlns:a16="http://schemas.microsoft.com/office/drawing/2014/main" id="{E6AB1DD4-BBCB-E8E0-F911-A9F3A4CF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09"/>
          <a:stretch>
            <a:fillRect/>
          </a:stretch>
        </p:blipFill>
        <p:spPr>
          <a:xfrm>
            <a:off x="7174353" y="4409809"/>
            <a:ext cx="4761115" cy="1771354"/>
          </a:xfrm>
          <a:prstGeom prst="rect">
            <a:avLst/>
          </a:prstGeom>
        </p:spPr>
      </p:pic>
      <p:pic>
        <p:nvPicPr>
          <p:cNvPr id="30" name="Picture 2" descr="https://www.sih.gov.in/img1/SIH-Logo.png">
            <a:extLst>
              <a:ext uri="{FF2B5EF4-FFF2-40B4-BE49-F238E27FC236}">
                <a16:creationId xmlns:a16="http://schemas.microsoft.com/office/drawing/2014/main" id="{195771DA-326D-1416-E02F-2625F26D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19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4C2F4FF-6497-6412-1DA5-61DEB20AF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6955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4" name="Footer Placeholder 6">
            <a:extLst>
              <a:ext uri="{FF2B5EF4-FFF2-40B4-BE49-F238E27FC236}">
                <a16:creationId xmlns:a16="http://schemas.microsoft.com/office/drawing/2014/main" id="{565356AD-D3CA-16AD-B726-5F0432C08A4F}"/>
              </a:ext>
            </a:extLst>
          </p:cNvPr>
          <p:cNvSpPr txBox="1">
            <a:spLocks/>
          </p:cNvSpPr>
          <p:nvPr/>
        </p:nvSpPr>
        <p:spPr>
          <a:xfrm>
            <a:off x="4917402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99D97B7-683A-739C-934B-EA5D665CF32B}"/>
              </a:ext>
            </a:extLst>
          </p:cNvPr>
          <p:cNvCxnSpPr>
            <a:cxnSpLocks/>
          </p:cNvCxnSpPr>
          <p:nvPr/>
        </p:nvCxnSpPr>
        <p:spPr>
          <a:xfrm>
            <a:off x="3908700" y="2469153"/>
            <a:ext cx="0" cy="13401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1CE04D1-BE9D-C01D-4140-1E1766229CF2}"/>
              </a:ext>
            </a:extLst>
          </p:cNvPr>
          <p:cNvSpPr txBox="1"/>
          <p:nvPr/>
        </p:nvSpPr>
        <p:spPr>
          <a:xfrm>
            <a:off x="9026979" y="6202759"/>
            <a:ext cx="60946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1" u="sng" dirty="0">
                <a:solidFill>
                  <a:srgbClr val="C00000"/>
                </a:solidFill>
              </a:rPr>
              <a:t>Benchmark Data</a:t>
            </a:r>
            <a:endParaRPr lang="en-IN" sz="1050" b="1" i="1" u="sng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5A5011F-2918-BE07-4557-AF210CA57016}"/>
              </a:ext>
            </a:extLst>
          </p:cNvPr>
          <p:cNvSpPr/>
          <p:nvPr/>
        </p:nvSpPr>
        <p:spPr>
          <a:xfrm>
            <a:off x="305724" y="1191423"/>
            <a:ext cx="6055748" cy="187981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regenerates from a result file by script. None is typed by hand.</a:t>
            </a:r>
            <a:endParaRPr lang="en-US" sz="1350" dirty="0"/>
          </a:p>
        </p:txBody>
      </p:sp>
      <p:pic>
        <p:nvPicPr>
          <p:cNvPr id="5" name="Image 0" descr="/home/claude/ppt/assets/chart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047" y="1300742"/>
            <a:ext cx="4896033" cy="27644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0398" y="1248973"/>
            <a:ext cx="2302954" cy="484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0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29438" y="1728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expensive model's flags recovered at a 5% escalation budget (±1.1, 3 seeds)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485998" y="1248973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13.7×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516478" y="1729861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student model — 205,546 → 14,992 parameters, CPU-only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0398" y="215789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0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94.7%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590398" y="260758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GPU work in steady state at a 1,000-host deployment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485998" y="215789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0.992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3546958" y="260758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Sentry–Inspector agreement (AUC) on real enterprise traffic (±0.003)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78311" y="326094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STRATEGIC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78310" y="3516974"/>
            <a:ext cx="2794327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egress detection for diode-protected national infrastructure — nuclear, defence, power grid, SCADA — which today has none. Directly supports NCIIPC's Critical Information Infrastructure mandate. SDG 9 and SDG 11.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075" y="4884976"/>
            <a:ext cx="11429645" cy="1649759"/>
          </a:xfrm>
          <a:prstGeom prst="roundRect">
            <a:avLst>
              <a:gd name="adj" fmla="val 378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IN" sz="1100" b="1" spc="-2" dirty="0"/>
              <a:t>1. Nuclear &amp; Power Generation:</a:t>
            </a:r>
            <a:r>
              <a:rPr lang="en-IN" sz="1100" spc="-2" dirty="0"/>
              <a:t> Monitors egress from diode-isolated plant networks where no inline device or endpoint agent is permitted; flags a reactor-control host that starts touching service categories in an order it never has before.</a:t>
            </a:r>
          </a:p>
          <a:p>
            <a:pPr>
              <a:buNone/>
            </a:pPr>
            <a:br>
              <a:rPr lang="en-IN" sz="1100" dirty="0"/>
            </a:br>
            <a:endParaRPr lang="en-IN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618272" y="324278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0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618272" y="3498814"/>
            <a:ext cx="295524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less GPU work than inspecting every host-day, so the detection layer runs on CPU-only hardware an OT site already owns. One alert carrying four timestamped chain steps instead of four disconnected alerts also cuts analyst time.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28638" y="5452739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036904" y="4142853"/>
            <a:ext cx="4500439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is AGREEMENT WITH THE TEACHER — an efficiency figure, not a detection rate, and we never present it as one. Our best honest detection result against a real red team is within-host AUC 0.557 ± 0.013.</a:t>
            </a:r>
            <a:endParaRPr lang="en-US" sz="1050" i="1" dirty="0"/>
          </a:p>
        </p:txBody>
      </p:sp>
      <p:pic>
        <p:nvPicPr>
          <p:cNvPr id="24" name="Picture 2" descr="https://www.sih.gov.in/img1/SIH-Logo.png">
            <a:extLst>
              <a:ext uri="{FF2B5EF4-FFF2-40B4-BE49-F238E27FC236}">
                <a16:creationId xmlns:a16="http://schemas.microsoft.com/office/drawing/2014/main" id="{8EA672B7-573C-66DB-F929-40AA1CD4A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19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487D2BB-F04A-68A7-730A-B633BDB2D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6955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8" name="Footer Placeholder 6">
            <a:extLst>
              <a:ext uri="{FF2B5EF4-FFF2-40B4-BE49-F238E27FC236}">
                <a16:creationId xmlns:a16="http://schemas.microsoft.com/office/drawing/2014/main" id="{252FCAB7-1037-B7FA-A6EF-2D7AA33B9D4F}"/>
              </a:ext>
            </a:extLst>
          </p:cNvPr>
          <p:cNvSpPr txBox="1">
            <a:spLocks/>
          </p:cNvSpPr>
          <p:nvPr/>
        </p:nvSpPr>
        <p:spPr>
          <a:xfrm>
            <a:off x="4917402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569605-F4E0-4BE4-CE3B-6B347D48C57C}"/>
              </a:ext>
            </a:extLst>
          </p:cNvPr>
          <p:cNvSpPr txBox="1"/>
          <p:nvPr/>
        </p:nvSpPr>
        <p:spPr>
          <a:xfrm>
            <a:off x="290076" y="4541894"/>
            <a:ext cx="4371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C0C0C0"/>
                </a:highlight>
              </a:rPr>
              <a:t>Industrial &amp; critical-infrastructure use cases: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687AB6-2237-CE31-2F51-7F5A231C168A}"/>
              </a:ext>
            </a:extLst>
          </p:cNvPr>
          <p:cNvSpPr txBox="1"/>
          <p:nvPr/>
        </p:nvSpPr>
        <p:spPr>
          <a:xfrm>
            <a:off x="533399" y="5127336"/>
            <a:ext cx="57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295198-B0B1-2485-50AE-EFD347B1562D}"/>
              </a:ext>
            </a:extLst>
          </p:cNvPr>
          <p:cNvSpPr txBox="1"/>
          <p:nvPr/>
        </p:nvSpPr>
        <p:spPr>
          <a:xfrm>
            <a:off x="306150" y="5297828"/>
            <a:ext cx="113829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/>
              <a:t>2. Electrical Grid &amp; Substations (SCADA/ICS): </a:t>
            </a:r>
            <a:r>
              <a:rPr lang="en-IN" sz="1100" dirty="0"/>
              <a:t>Watches IEC-104 / DNP3 control segments passively on a SPAN port — detects the reconnaissance-to-exfiltration chain across substations without adding latency or a single packet to the OT network.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5D409A-F1C3-F92E-0EA0-98B2573231A2}"/>
              </a:ext>
            </a:extLst>
          </p:cNvPr>
          <p:cNvSpPr txBox="1"/>
          <p:nvPr/>
        </p:nvSpPr>
        <p:spPr>
          <a:xfrm>
            <a:off x="290076" y="5687210"/>
            <a:ext cx="113829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/>
              <a:t>3. Defence &amp; Government Air: </a:t>
            </a:r>
            <a:r>
              <a:rPr lang="en-IN" sz="1100" dirty="0"/>
              <a:t>Gapped Networks Fully offline, no telemetry, no external resolver — every model, feature and decision boundary is auditable, meeting data-sovereignty rules that rule out CrowdStrike/Darktrace-class cloud tools.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0410B3-80B9-A61B-EC0B-5DC8C0A3400D}"/>
              </a:ext>
            </a:extLst>
          </p:cNvPr>
          <p:cNvSpPr txBox="1"/>
          <p:nvPr/>
        </p:nvSpPr>
        <p:spPr>
          <a:xfrm>
            <a:off x="252650" y="6062224"/>
            <a:ext cx="113829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100" b="1" dirty="0"/>
              <a:t> 4. Oil, Gas &amp; Pipeline Operations </a:t>
            </a:r>
            <a:r>
              <a:rPr lang="en-IN" sz="1100" dirty="0"/>
              <a:t>Geographically dispersed RTUs and PLCs behind unidirectional gateways; behavioural detection catches living-off-trusted-services C2 that signature IDS and domain filters miss entirely.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9208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16636" y="1025761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450134" y="78813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architecture — prior art, not ours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997392" y="800219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GraphIDS: self-supervised graph intrusion detection with edge aggregation — arXiv:2509.16625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0134" y="1009225"/>
            <a:ext cx="78655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Inspector is GraphIDS-shaped. We say this on stage. The cascade, the distillation and per-entity baselining are all established technique.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11183112" cy="758952"/>
          </a:xfrm>
          <a:prstGeom prst="roundRect">
            <a:avLst>
              <a:gd name="adj" fmla="val 6024"/>
            </a:avLst>
          </a:prstGeom>
          <a:solidFill>
            <a:srgbClr val="F3F6FA"/>
          </a:solidFill>
          <a:ln w="9525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450134" y="122247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router predicts the teacher's flag, not its own uncertainty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98679" y="123114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Jitkrittum, Gupta, Menon, Narasimhan, Rawat, Kumar — "When does confidence-based cascade deferral suffice?" NeurIPS 2023, 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25750" y="1426494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deferral is provably suboptimal. Our router is trained to answer "would the Inspector flag this".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5750" y="1664238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distil the encoder and never the verdict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18579" y="167335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"Knowledge distillation for anomaly detection" — MDPI Machine Learning &amp; Knowledge Extraction 8(3):60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25750" y="1874550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transfer is asymmetric: global outliers 78%, isolation 88%, neighbourhood 76%, local outliers only 20%. A LOTS chain is a local outlier.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25750" y="209565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red-team evaluation data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62863" y="211271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Kent, A. D. — "Comprehensive, Multi-Source Cyber-Security Events", Los Alamos National Laboratory, 2015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25750" y="2290365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hosts × 13 days × 749 real red-team events. Also, the source of our honest negative result: within-host AUC 0.557.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25750" y="248663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and taxonomy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13234" y="2496372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T1567 (Exfiltration Over Web Service), T1102 (Web Service C2) · The LOTS Project living-off-trusted-sites domain taxonomy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25750" y="2665091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54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nine service categories in our resolver extend the LOTS taxonomy. The resolver is a deterministic lookup, never a model.</a:t>
            </a:r>
            <a:endParaRPr lang="en-US" sz="1050" dirty="0"/>
          </a:p>
        </p:txBody>
      </p:sp>
      <p:pic>
        <p:nvPicPr>
          <p:cNvPr id="16" name="Picture 2" descr="https://www.sih.gov.in/img1/SIH-Logo.png">
            <a:extLst>
              <a:ext uri="{FF2B5EF4-FFF2-40B4-BE49-F238E27FC236}">
                <a16:creationId xmlns:a16="http://schemas.microsoft.com/office/drawing/2014/main" id="{87F8EBB6-9700-5F3B-A43E-D6E27C51A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19" y="82172"/>
            <a:ext cx="1148797" cy="58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E0E3AF5-F397-2591-A04F-DD2E78A0C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6955"/>
            <a:ext cx="12192001" cy="23774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6" name="Footer Placeholder 6">
            <a:extLst>
              <a:ext uri="{FF2B5EF4-FFF2-40B4-BE49-F238E27FC236}">
                <a16:creationId xmlns:a16="http://schemas.microsoft.com/office/drawing/2014/main" id="{AE66B8F8-D291-E85E-F2F6-90E9049D82E2}"/>
              </a:ext>
            </a:extLst>
          </p:cNvPr>
          <p:cNvSpPr txBox="1">
            <a:spLocks/>
          </p:cNvSpPr>
          <p:nvPr/>
        </p:nvSpPr>
        <p:spPr>
          <a:xfrm>
            <a:off x="4917402" y="6628470"/>
            <a:ext cx="3450771" cy="17249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chemeClr val="bg1"/>
                </a:solidFill>
              </a:rPr>
              <a:t>@SIH Idea submission- Template</a:t>
            </a:r>
          </a:p>
        </p:txBody>
      </p:sp>
      <p:graphicFrame>
        <p:nvGraphicFramePr>
          <p:cNvPr id="28" name="Comparison Table">
            <a:extLst>
              <a:ext uri="{FF2B5EF4-FFF2-40B4-BE49-F238E27FC236}">
                <a16:creationId xmlns:a16="http://schemas.microsoft.com/office/drawing/2014/main" id="{98893501-F0D0-D131-B7C1-446698EC79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033711"/>
              </p:ext>
            </p:extLst>
          </p:nvPr>
        </p:nvGraphicFramePr>
        <p:xfrm>
          <a:off x="413532" y="2953512"/>
          <a:ext cx="10976421" cy="335982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846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4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509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Capability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NetSentinel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Wireshark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Snort / Suricata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Commercial (Cisco / CrowdStrike / Darktrace)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9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Offline / air-gapped operation — no cloud, no telemetry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Yes (manual)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 — cloud-dependent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Passive &amp; agentless — runs behind a data diode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Passive but 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Inline / tap, needs rules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 — needs agents or inline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Detects unknown, zero-day behaviour (no signatures)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Behavioural, unsupervised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 — signatures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9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Cross-service kill-chain correlation — ONE alert, not four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Unique to 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944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Encrypted-traffic visibility without decryption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Headers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Limited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Often needs TLS break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440"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Protection Against Modern Cloud/Telegram/Discord Attacks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dirty="0">
                          <a:solidFill>
                            <a:srgbClr val="0F2340"/>
                          </a:solidFill>
                          <a:latin typeface="Calibri" pitchFamily="34" charset="0"/>
                        </a:rPr>
                        <a:t>✓ Better results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--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--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0" dirty="0">
                          <a:solidFill>
                            <a:srgbClr val="454A53"/>
                          </a:solidFill>
                          <a:latin typeface="Calibri" pitchFamily="34" charset="0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CDFE4"/>
                      </a:solidFill>
                    </a:lnL>
                    <a:lnR w="6350">
                      <a:solidFill>
                        <a:srgbClr val="DCDFE4"/>
                      </a:solidFill>
                    </a:lnR>
                    <a:lnT w="6350">
                      <a:solidFill>
                        <a:srgbClr val="DCDFE4"/>
                      </a:solidFill>
                    </a:lnT>
                    <a:lnB w="6350">
                      <a:solidFill>
                        <a:srgbClr val="DCDFE4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0A2E374-447E-977C-2FBE-6E767B9C7782}"/>
              </a:ext>
            </a:extLst>
          </p:cNvPr>
          <p:cNvSpPr txBox="1"/>
          <p:nvPr/>
        </p:nvSpPr>
        <p:spPr>
          <a:xfrm>
            <a:off x="1400973" y="6314041"/>
            <a:ext cx="94144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u="sng" dirty="0">
                <a:solidFill>
                  <a:schemeClr val="tx2"/>
                </a:solidFill>
              </a:rPr>
              <a:t>Video link:</a:t>
            </a:r>
            <a:r>
              <a:rPr lang="en-US" sz="1600" b="1" dirty="0">
                <a:solidFill>
                  <a:schemeClr val="tx2"/>
                </a:solidFill>
              </a:rPr>
              <a:t>  </a:t>
            </a:r>
            <a:r>
              <a:rPr lang="en-US" sz="1600" b="1" i="1" u="sng" dirty="0">
                <a:solidFill>
                  <a:schemeClr val="tx2"/>
                </a:solidFill>
              </a:rPr>
              <a:t>https://drive.google.com/drive/folders/1PeBuv8mAERw5uahcXovEdzWme7k20iW-?usp=sharing</a:t>
            </a:r>
            <a:endParaRPr lang="en-IN" sz="1600" b="1" i="1" u="sng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2486</Words>
  <Application>Microsoft Office PowerPoint</Application>
  <PresentationFormat>Widescreen</PresentationFormat>
  <Paragraphs>145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Nova Cond</vt:lpstr>
      <vt:lpstr>Calibri</vt:lpstr>
      <vt:lpstr>Cambria</vt:lpstr>
      <vt:lpstr>Garamond</vt:lpstr>
      <vt:lpstr>Times New Roman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NetSentinel — SIH 2026 Idea Submission</dc:title>
  <dc:subject>PptxGenJS Presentation</dc:subject>
  <dc:creator>Team NetSentinel</dc:creator>
  <cp:lastModifiedBy>DEEP DASGUPTA</cp:lastModifiedBy>
  <cp:revision>5</cp:revision>
  <dcterms:created xsi:type="dcterms:W3CDTF">2026-09-06T15:53:28Z</dcterms:created>
  <dcterms:modified xsi:type="dcterms:W3CDTF">2026-09-07T04:56:22Z</dcterms:modified>
</cp:coreProperties>
</file>