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3000" b="1">
                <a:solidFill>
                  <a:srgbClr val="1F3B64"/>
                </a:solidFill>
                <a:latin typeface="Arial"/>
              </a:rPr>
              <a:t>NETSENTINEL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300" i="1">
                <a:solidFill>
                  <a:srgbClr val="5A5A5A"/>
                </a:solidFill>
                <a:latin typeface="Arial"/>
              </a:rPr>
              <a:t>Passive ML intrusion detection with proof-carrying alerts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1300" b="1">
                <a:solidFill>
                  <a:srgbClr val="1F3B64"/>
                </a:solidFill>
                <a:latin typeface="Arial"/>
              </a:rPr>
              <a:t>Problem Statement ID  -  &lt;fill from portal&gt;</a:t>
            </a:r>
            <a:endParaRPr lang="en-US" dirty="0"/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1300" b="1">
                <a:solidFill>
                  <a:srgbClr val="1F3B64"/>
                </a:solidFill>
                <a:latin typeface="Arial"/>
              </a:rPr>
              <a:t>Problem Statement Title  -  &lt;fill from portal&gt;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1300" b="1">
                <a:solidFill>
                  <a:srgbClr val="1F3B64"/>
                </a:solidFill>
                <a:latin typeface="Arial"/>
              </a:rPr>
              <a:t>Theme  -  Blockchain &amp; Cybersecurity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1300" b="1">
                <a:solidFill>
                  <a:srgbClr val="1F3B64"/>
                </a:solidFill>
                <a:latin typeface="Arial"/>
              </a:rPr>
              <a:t>PS Category  -  Software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1300" b="1">
                <a:solidFill>
                  <a:srgbClr val="1F3B64"/>
                </a:solidFill>
                <a:latin typeface="Arial"/>
              </a:rPr>
              <a:t>Team ID  -  &lt;fill from portal&gt;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1300" b="1">
                <a:solidFill>
                  <a:srgbClr val="1F3B64"/>
                </a:solidFill>
                <a:latin typeface="Arial"/>
              </a:rPr>
              <a:t>Team Name  -  &lt;registered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0"/>
            <a:ext cx="7772400" cy="1143000"/>
          </a:xfrm>
        </p:spPr>
        <p:txBody>
          <a:bodyPr/>
          <a:lstStyle/>
          <a:p>
            <a:pPr algn="ctr"/>
            <a:r>
              <a:rPr sz="2200" b="1">
                <a:solidFill>
                  <a:srgbClr val="1F3B64"/>
                </a:solidFill>
                <a:latin typeface="Arial"/>
              </a:rPr>
              <a:t>NETSENTINEL: SIX-MODEL PASSIVE NIDS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3B64"/>
                </a:solidFill>
                <a:latin typeface="Arial"/>
              </a:rPr>
              <a:t>NetSentinel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932688"/>
            <a:ext cx="11521440" cy="420624"/>
          </a:xfrm>
          <a:prstGeom prst="roundRect">
            <a:avLst>
              <a:gd name="adj" fmla="val 8000"/>
            </a:avLst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One passive sensor. Six ML detectors. Zero payload inspection. Every alert ships a cryptographic receipt.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20040" y="1444752"/>
            <a:ext cx="40233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WHAT WE BUILD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0040" y="1700784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▪  Offline NIDS: ingests a PCAP file or a mirror/TAP feed, extracts behavioural metadata only.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▪  No payload read, nothing inline, nothing leaves the monitored network - deployable behind a data diode.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▪  Six ONNX models score in parallel; one analyzer fuses them per host into a single attack chain.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20040" y="3163824"/>
            <a:ext cx="40233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HOW IT SOLVES THE PROBLEM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20040" y="3419856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▪  Today a DGA lookup, a C2 beacon and a DNS tunnel from one host arrive as 3 disconnected alerts.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▪  NetSentinel correlates them into ONE kill chain: recon → C2 → exfiltration, same host, one verdict.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▪  Alerts arrive with evidence, MITRE mapping and a signed receipt, so they survive audit and court.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20040" y="4745736"/>
            <a:ext cx="40233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E06C18"/>
                </a:solidFill>
                <a:latin typeface="Arial"/>
              </a:rPr>
              <a:t>NOVELTY (the only claim we make)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20040" y="5001768"/>
            <a:ext cx="4023360" cy="1216152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1.  Cross-signal correlation of 6 independent detectors on a single passive, fully local sensor.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2.  Inspector-Sentry cascade: a 15k-param causal edge router + a 206k-param central graph teacher.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3.  Proof-carrying alerts: DSSE receipt + Merkle transparency log makes tampering detectable.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617720" y="1444752"/>
            <a:ext cx="72237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ctr"/>
            <a:r>
              <a:rPr sz="1100" b="1">
                <a:solidFill>
                  <a:srgbClr val="1F3B64"/>
                </a:solidFill>
                <a:latin typeface="Arial"/>
              </a:rPr>
              <a:t>SOLUTION PIPELINE  (detection funnel)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617720" y="1700784"/>
            <a:ext cx="352044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PCAP file  (forensic replay)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8321040" y="1700784"/>
            <a:ext cx="352044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Live TAP / SPAN mirror  (unidirectional)</a:t>
            </a:r>
          </a:p>
        </p:txBody>
      </p:sp>
      <p:sp>
        <p:nvSpPr>
          <p:cNvPr id="15372" name="Down Arrow 15371"/>
          <p:cNvSpPr/>
          <p:nvPr/>
        </p:nvSpPr>
        <p:spPr>
          <a:xfrm>
            <a:off x="8001000" y="2130552"/>
            <a:ext cx="457200" cy="201168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4617720" y="2377440"/>
            <a:ext cx="7223760" cy="603504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1">
                <a:solidFill>
                  <a:srgbClr val="1F3B64"/>
                </a:solidFill>
                <a:latin typeface="Arial"/>
              </a:rPr>
              <a:t>EXTRACTION LAYER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Phase 1 - CICFlowMeter: 59 flow statistics   |   Phase 2 - custom Scapy: DNS query strings, 24 lexical features, 100-flow session time-series</a:t>
            </a:r>
          </a:p>
        </p:txBody>
      </p:sp>
      <p:sp>
        <p:nvSpPr>
          <p:cNvPr id="15374" name="Down Arrow 15373"/>
          <p:cNvSpPr/>
          <p:nvPr/>
        </p:nvSpPr>
        <p:spPr>
          <a:xfrm>
            <a:off x="8001000" y="3026664"/>
            <a:ext cx="457200" cy="201168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4617720" y="3273552"/>
            <a:ext cx="7223760" cy="384048"/>
          </a:xfrm>
          <a:prstGeom prst="roundRect">
            <a:avLst>
              <a:gd name="adj" fmla="val 8000"/>
            </a:avLst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SOURCE-TAG ROUTER  -  each model only ever receives the feature distribution it was trained on</a:t>
            </a:r>
          </a:p>
        </p:txBody>
      </p:sp>
      <p:sp>
        <p:nvSpPr>
          <p:cNvPr id="15376" name="Down Arrow 15375"/>
          <p:cNvSpPr/>
          <p:nvPr/>
        </p:nvSpPr>
        <p:spPr>
          <a:xfrm>
            <a:off x="8001000" y="3703320"/>
            <a:ext cx="457200" cy="182880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4617720" y="3931920"/>
            <a:ext cx="112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DDoS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50" b="0">
                <a:solidFill>
                  <a:srgbClr val="5A5A5A"/>
                </a:solidFill>
                <a:latin typeface="Arial"/>
              </a:rPr>
              <a:t>XGBoost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00" b="1">
                <a:solidFill>
                  <a:srgbClr val="E06C18"/>
                </a:solidFill>
                <a:latin typeface="Arial"/>
              </a:rPr>
              <a:t>T1498/99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5836920" y="3931920"/>
            <a:ext cx="112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Port Scan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50" b="0">
                <a:solidFill>
                  <a:srgbClr val="5A5A5A"/>
                </a:solidFill>
                <a:latin typeface="Arial"/>
              </a:rPr>
              <a:t>RF SPSD + fan-out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00" b="1">
                <a:solidFill>
                  <a:srgbClr val="E06C18"/>
                </a:solidFill>
                <a:latin typeface="Arial"/>
              </a:rPr>
              <a:t>T1046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7056120" y="3931920"/>
            <a:ext cx="112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DGA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50" b="0">
                <a:solidFill>
                  <a:srgbClr val="5A5A5A"/>
                </a:solidFill>
                <a:latin typeface="Arial"/>
              </a:rPr>
              <a:t>CNN + BiLSTM, 3-class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00" b="1">
                <a:solidFill>
                  <a:srgbClr val="E06C18"/>
                </a:solidFill>
                <a:latin typeface="Arial"/>
              </a:rPr>
              <a:t>T1568.002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8275320" y="3931920"/>
            <a:ext cx="112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Exfiltration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50" b="0">
                <a:solidFill>
                  <a:srgbClr val="5A5A5A"/>
                </a:solidFill>
                <a:latin typeface="Arial"/>
              </a:rPr>
              <a:t>Variational Autoencoder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00" b="1">
                <a:solidFill>
                  <a:srgbClr val="E06C18"/>
                </a:solidFill>
                <a:latin typeface="Arial"/>
              </a:rPr>
              <a:t>T1048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9494520" y="3931920"/>
            <a:ext cx="112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C2 Beacon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50" b="0">
                <a:solidFill>
                  <a:srgbClr val="5A5A5A"/>
                </a:solidFill>
                <a:latin typeface="Arial"/>
              </a:rPr>
              <a:t>BiLSTM + FFT spectral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00" b="1">
                <a:solidFill>
                  <a:srgbClr val="E06C18"/>
                </a:solidFill>
                <a:latin typeface="Arial"/>
              </a:rPr>
              <a:t>T1071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10713720" y="3931920"/>
            <a:ext cx="112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Encrypted Traffic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50" b="0">
                <a:solidFill>
                  <a:srgbClr val="5A5A5A"/>
                </a:solidFill>
                <a:latin typeface="Arial"/>
              </a:rPr>
              <a:t>FT-Transformer, 14-class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00" b="1">
                <a:solidFill>
                  <a:srgbClr val="E06C18"/>
                </a:solidFill>
                <a:latin typeface="Arial"/>
              </a:rPr>
              <a:t>T1573</a:t>
            </a:r>
          </a:p>
        </p:txBody>
      </p:sp>
      <p:sp>
        <p:nvSpPr>
          <p:cNvPr id="15383" name="Down Arrow 15382"/>
          <p:cNvSpPr/>
          <p:nvPr/>
        </p:nvSpPr>
        <p:spPr>
          <a:xfrm>
            <a:off x="8001000" y="4727448"/>
            <a:ext cx="457200" cy="182880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4617720" y="4956048"/>
            <a:ext cx="7223760" cy="4572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950" b="1">
                <a:solidFill>
                  <a:srgbClr val="1F3B64"/>
                </a:solidFill>
                <a:latin typeface="Arial"/>
              </a:rPr>
              <a:t>ANALYZER  -  per-host correlation + evidence   ➔   ALERT MANAGER  -  severity, MITRE ATT&amp;CK, retention</a:t>
            </a:r>
          </a:p>
        </p:txBody>
      </p:sp>
      <p:sp>
        <p:nvSpPr>
          <p:cNvPr id="15385" name="Down Arrow 15384"/>
          <p:cNvSpPr/>
          <p:nvPr/>
        </p:nvSpPr>
        <p:spPr>
          <a:xfrm>
            <a:off x="8001000" y="5449824"/>
            <a:ext cx="457200" cy="182880"/>
          </a:xfrm>
          <a:prstGeom prst="downArrow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4617720" y="5669280"/>
            <a:ext cx="7223760" cy="548640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E06C18"/>
                </a:solidFill>
                <a:latin typeface="Arial"/>
              </a:rPr>
              <a:t>OUTPUT: ONE CORRELATED KILL CHAIN  +  DSSE-SIGNED RECEIPT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222222"/>
                </a:solidFill>
                <a:latin typeface="Arial"/>
              </a:rPr>
              <a:t>Live to the analyst over WebSocket (ws://host:8000/ws): alert feed, 3D threat graph, FFT spectrum, attack timeline, MITRE heatmap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500" b="1">
                <a:solidFill>
                  <a:srgbClr val="1F3B64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3B64"/>
                </a:solidFill>
                <a:latin typeface="Arial"/>
              </a:rPr>
              <a:t>NetSentinel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24128"/>
            <a:ext cx="324612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TECHNOLOGY STACK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280160"/>
            <a:ext cx="3246120" cy="1993392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Capture / features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dumpcap ring buffer, Scapy, CICFlowMeter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Models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PyTorch → ONNX Runtime (single-thread, deterministic), XGBoost, scikit-learn 1.3.2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Service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Python 3.11, FastAPI + uvicorn :8000, WebSocket hub, OpenAPI /docs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Integrity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Ed25519, DSSE, in-toto Statement v1, JCS, Merkle log, Git anchoring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Interface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React 19 + Vite analyst dashboard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3328416"/>
            <a:ext cx="324612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IMPLEMENTATION FLOW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320040" y="3584448"/>
            <a:ext cx="3246120" cy="32918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1  Capture: PCAP or TAP → 1 file/hour, snaplen 0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320040" y="3959352"/>
            <a:ext cx="3246120" cy="329184"/>
          </a:xfrm>
          <a:prstGeom prst="chevron">
            <a:avLst/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2  Extract: flow stats + DNS strings + 100-flow sessions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320040" y="4334256"/>
            <a:ext cx="3246120" cy="32918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3  Route by source tag (no distribution mismatch)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320040" y="4709160"/>
            <a:ext cx="3246120" cy="329184"/>
          </a:xfrm>
          <a:prstGeom prst="chevron">
            <a:avLst/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4  Infer: 6 ONNX models, thresholds + decision gates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320040" y="5084064"/>
            <a:ext cx="3246120" cy="32918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5  Correlate per host → kill chain + severity + MITRE</a:t>
            </a:r>
          </a:p>
        </p:txBody>
      </p:sp>
      <p:sp>
        <p:nvSpPr>
          <p:cNvPr id="17418" name="Chevron 17417"/>
          <p:cNvSpPr/>
          <p:nvPr/>
        </p:nvSpPr>
        <p:spPr>
          <a:xfrm>
            <a:off x="320040" y="5458968"/>
            <a:ext cx="3246120" cy="329184"/>
          </a:xfrm>
          <a:prstGeom prst="chevron">
            <a:avLst/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6  Receipt: DSSE sign → 60 s Merkle batch → anchor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320040" y="5833872"/>
            <a:ext cx="3246120" cy="32918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7  Stream to dashboard; CLI verifier replays any alert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749039" y="1024128"/>
            <a:ext cx="388620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50" b="1">
                <a:solidFill>
                  <a:srgbClr val="E06C18"/>
                </a:solidFill>
                <a:latin typeface="Arial"/>
              </a:rPr>
              <a:t>C2 BEACON DETECTOR  -  DUAL-PATH (ours)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749039" y="1280160"/>
            <a:ext cx="38862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900" b="1">
                <a:solidFill>
                  <a:srgbClr val="222222"/>
                </a:solidFill>
                <a:latin typeface="Arial"/>
              </a:rPr>
              <a:t>SESSION TENSOR: 100 consecutive flows per (src, dst) pair</a:t>
            </a:r>
          </a:p>
        </p:txBody>
      </p:sp>
      <p:sp>
        <p:nvSpPr>
          <p:cNvPr id="17422" name="Down Arrow 17421"/>
          <p:cNvSpPr/>
          <p:nvPr/>
        </p:nvSpPr>
        <p:spPr>
          <a:xfrm>
            <a:off x="4663440" y="1719072"/>
            <a:ext cx="320040" cy="164592"/>
          </a:xfrm>
          <a:prstGeom prst="downArrow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Down Arrow 17422"/>
          <p:cNvSpPr/>
          <p:nvPr/>
        </p:nvSpPr>
        <p:spPr>
          <a:xfrm>
            <a:off x="6400800" y="1719072"/>
            <a:ext cx="320040" cy="164592"/>
          </a:xfrm>
          <a:prstGeom prst="downArrow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3749039" y="1920240"/>
            <a:ext cx="1847088" cy="100584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TEMPORAL PATH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Bidirectional LSTM over 100 timesteps × 4 features: inter-arrival time, packet size, byte count, direction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788152" y="1920240"/>
            <a:ext cx="1847088" cy="1005840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E06C18"/>
                </a:solidFill>
                <a:latin typeface="Arial"/>
              </a:rPr>
              <a:t>SPECTRAL PATH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FFT of inter-arrival times → FFT score, dominant frequency, harmonic ratio, spectral entropy, peak prominence</a:t>
            </a:r>
          </a:p>
        </p:txBody>
      </p:sp>
      <p:sp>
        <p:nvSpPr>
          <p:cNvPr id="17426" name="Down Arrow 17425"/>
          <p:cNvSpPr/>
          <p:nvPr/>
        </p:nvSpPr>
        <p:spPr>
          <a:xfrm>
            <a:off x="5440679" y="2980944"/>
            <a:ext cx="502920" cy="182880"/>
          </a:xfrm>
          <a:prstGeom prst="downArrow">
            <a:avLst/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3749039" y="3218688"/>
            <a:ext cx="38862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FUSION - two explicit gates, not one score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Low-jitter beacon:  p &gt; 0.90  AND  CV &lt; 0.05  AND  no benign periodic match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FFT-confirmed beacon:  p &gt; 0.90  AND  FFT score &gt; 0.15  AND  spectral entropy &lt; 0.85  AND  peak prominence &gt; 3.0</a:t>
            </a:r>
          </a:p>
        </p:txBody>
      </p:sp>
      <p:sp>
        <p:nvSpPr>
          <p:cNvPr id="17428" name="Down Arrow 17427"/>
          <p:cNvSpPr/>
          <p:nvPr/>
        </p:nvSpPr>
        <p:spPr>
          <a:xfrm>
            <a:off x="5440679" y="4242816"/>
            <a:ext cx="502920" cy="182880"/>
          </a:xfrm>
          <a:prstGeom prst="downArrow">
            <a:avLst/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3749039" y="4480560"/>
            <a:ext cx="3886200" cy="457200"/>
          </a:xfrm>
          <a:prstGeom prst="roundRect">
            <a:avLst>
              <a:gd name="adj" fmla="val 8000"/>
            </a:avLst>
          </a:prstGeom>
          <a:solidFill>
            <a:srgbClr val="E8F4EB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50" b="1">
                <a:solidFill>
                  <a:srgbClr val="1E7B34"/>
                </a:solidFill>
                <a:latin typeface="Arial"/>
              </a:rPr>
              <a:t>VERDICT → kill-chain correlation + FFT spectrum shown to the analyst (e.g. 0.0167 Hz = 60 s beacon)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749039" y="5029200"/>
            <a:ext cx="3886200" cy="566928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F3B64"/>
                </a:solidFill>
                <a:latin typeface="Arial"/>
              </a:rPr>
              <a:t>Explicit benign exclusions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NTP :123 · TCP keepalives :22/:443/:3389/:5900 · DNS cache refresh :53 · load-balancer health probes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749039" y="5669280"/>
            <a:ext cx="3886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E06C18"/>
                </a:solidFill>
                <a:latin typeface="Arial"/>
              </a:rPr>
              <a:t>The jitter trap (counter-intuitive, and the reason this works)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Jitter added to evade timing detection makes inter-arrivals UNIFORM. Human traffic is log-normal and bursty, so low ks_uniform + low FFT prominence = automation. Evasion becomes the signature.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818120" y="1024128"/>
            <a:ext cx="40233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50" b="1">
                <a:solidFill>
                  <a:srgbClr val="1F3B64"/>
                </a:solidFill>
                <a:latin typeface="Arial"/>
              </a:rPr>
              <a:t>INSPECTOR-SENTRY CASCADE  (insider / LOTS layer)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818120" y="1280160"/>
            <a:ext cx="1938528" cy="1234440"/>
          </a:xfrm>
          <a:prstGeom prst="roundRect">
            <a:avLst>
              <a:gd name="adj" fmla="val 8000"/>
            </a:avLst>
          </a:prstGeom>
          <a:solidFill>
            <a:srgbClr val="E8F4EB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E7B34"/>
                </a:solidFill>
                <a:latin typeface="Arial"/>
              </a:rPr>
              <a:t>SENTRY  -  student &amp; router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14,992 params · CPU · at the EDGE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EdgeAggregator (no cohort) → GRU 32, unidirectional → Linear 32→96 distillation head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1">
                <a:solidFill>
                  <a:srgbClr val="1E7B34"/>
                </a:solidFill>
                <a:latin typeface="Arial"/>
              </a:rPr>
              <a:t>Hourly · causal to 4×10⁻⁶ · needs no other host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902952" y="1280160"/>
            <a:ext cx="1938528" cy="123444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3B64"/>
                </a:solidFill>
                <a:latin typeface="Arial"/>
              </a:rPr>
              <a:t>INSPECTOR  -  teacher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205,546 params · GPU · CENTRAL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EdgeAggregator + hop-2 cohort + positional emb → Transformer ×2, dim 96, 4 heads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1">
                <a:solidFill>
                  <a:srgbClr val="1F3B64"/>
                </a:solidFill>
                <a:latin typeface="Arial"/>
              </a:rPr>
              <a:t>Whole host-day · cohort blanking moves output 0.410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235440" y="2578608"/>
            <a:ext cx="118872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escalate →  /  ← verdict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818120" y="2907792"/>
            <a:ext cx="4023360" cy="310896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Anomaly-weighted encoder distillation, λ = 4  (teacher → student, during commissioning)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818120" y="3291840"/>
            <a:ext cx="40233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1">
                <a:solidFill>
                  <a:srgbClr val="1F3B64"/>
                </a:solidFill>
                <a:latin typeface="Arial"/>
              </a:rPr>
              <a:t>LIFECYCLE  -  promotion on evidence, not a timer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818120" y="354787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COMMISSIONING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Inspector scores every host-day; Sentry runs in parallel from day 1, learning the labels</a:t>
            </a:r>
          </a:p>
        </p:txBody>
      </p:sp>
      <p:sp>
        <p:nvSpPr>
          <p:cNvPr id="17439" name="Right Arrow 17438"/>
          <p:cNvSpPr/>
          <p:nvPr/>
        </p:nvSpPr>
        <p:spPr>
          <a:xfrm>
            <a:off x="9774936" y="3749039"/>
            <a:ext cx="109728" cy="256032"/>
          </a:xfrm>
          <a:prstGeom prst="rightArrow">
            <a:avLst/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9902952" y="354787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SENTRY_PRIMARY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Hourly edge scoring; Inspector never idles - escalations + permanent blind audit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7818120" y="4261104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1">
                <a:solidFill>
                  <a:srgbClr val="1F3B64"/>
                </a:solidFill>
                <a:latin typeface="Arial"/>
              </a:rPr>
              <a:t>PROMOTION GATE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≥240 live windows · ≥10 distinct days · a weekend observed · named-flow ratio ≥0.50 · drift ≤0.35σ · teacher-student disagreement ≤0.20 · no open incident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818120" y="4773168"/>
            <a:ext cx="40233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1">
                <a:solidFill>
                  <a:srgbClr val="B32D2D"/>
                </a:solidFill>
                <a:latin typeface="Arial"/>
              </a:rPr>
              <a:t>RECOMMISSIONING / INCIDENT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Visibility gate (score / warn / refuse / recommission) returns the host to the teacher when the baseline goes stale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818120" y="5248656"/>
            <a:ext cx="402336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1">
                <a:solidFill>
                  <a:srgbClr val="1F3B64"/>
                </a:solidFill>
                <a:latin typeface="Arial"/>
              </a:rPr>
              <a:t>THE TEN PER-WINDOW FEATURES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818120" y="5486400"/>
            <a:ext cx="4023360" cy="7315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log_n_flows · log_bytes_up · log_bytes_down · egress_asymmetry (exfil signal) · iat_cv (beaconing) · ks_uniform · fft_prominence · + service-category mix, aggregated per host-window across 9 LOTS categories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Scored object = the cross-service category COMBINATION per host, not a single flow or destination.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500" b="1">
                <a:solidFill>
                  <a:srgbClr val="1F3B64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3B64"/>
                </a:solidFill>
                <a:latin typeface="Arial"/>
              </a:rPr>
              <a:t>NetSentinel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05840"/>
            <a:ext cx="566928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1. WHAT IS ALREADY MEASURED  (working code, not a plan)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261872"/>
            <a:ext cx="5669280" cy="237744"/>
          </a:xfrm>
          <a:prstGeom prst="rect">
            <a:avLst/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COMPONENT                    EVALUATION SET                              RESULT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20040" y="1499616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Port Scan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691640" y="1499616"/>
            <a:ext cx="1920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CIDDS-001 week2 + synthetic fast-scan PCAP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611880" y="1499616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82.6% detection @ 7.4% FPR; 95.9% confidence on fast scans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0040" y="1901952"/>
            <a:ext cx="137160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Encrypted traffic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1691640" y="1901952"/>
            <a:ext cx="192024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Consolidated VPN / non-VPN corpus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611880" y="1901952"/>
            <a:ext cx="237744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88% accuracy over 14 application classes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20040" y="2304288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Sentry router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1691640" y="2304288"/>
            <a:ext cx="1920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LANL cyber1, 3 seeds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611880" y="2304288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AUC 0.992 ± 0.003 agreement with the teacher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20040" y="2706624"/>
            <a:ext cx="137160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Router budget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1691640" y="2706624"/>
            <a:ext cx="192024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LANL cyber1, 5% inspect budget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611880" y="2706624"/>
            <a:ext cx="237744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Recovers 96.9% of the Inspector's flags (3.1% miss)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320040" y="3108960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Detection latency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1691640" y="3108960"/>
            <a:ext cx="1920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Mixed fleet, 200 hosts × 8 days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611880" y="3108960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Sentry peak at hour 17 vs teacher ≥hour 24: 7 h earlier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320040" y="3511296"/>
            <a:ext cx="137160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Inspector (weakest)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1691640" y="3511296"/>
            <a:ext cx="192024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LANL cyber1, within-host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611880" y="3511296"/>
            <a:ext cx="2377440" cy="402336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B32D2D"/>
                </a:solidFill>
                <a:latin typeface="Arial"/>
              </a:rPr>
              <a:t>AUC 0.557 ± 0.013 - near chance; we lead with this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20040" y="391363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C2 beacon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1691640" y="3913632"/>
            <a:ext cx="1920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Not yet validated on real botnet PCAP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3611880" y="3913632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80" b="0">
                <a:solidFill>
                  <a:srgbClr val="B32D2D"/>
                </a:solidFill>
                <a:latin typeface="Arial"/>
              </a:rPr>
              <a:t>Architecture complete; CTU-13 Scenario 1 (Neris) is next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20040" y="4407408"/>
            <a:ext cx="566928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2. WHY IT DEPLOYS IN A REAL INDIAN NETWORK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20040" y="4645152"/>
            <a:ext cx="2761488" cy="1572768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>
                <a:solidFill>
                  <a:srgbClr val="1F3B64"/>
                </a:solidFill>
                <a:latin typeface="Arial"/>
              </a:rPr>
              <a:t>Technical feasibility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Commodity CPU is enough for the sensor; only the central Inspector wants a GPU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Every model exported to ONNX → one inference interface across trees, RNNs and transformers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Sentry is 14,992 params, so edge deployment at a diode-separated site is realistic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Runs on stored PCAP, so it can be trialled on yesterday's capture with zero production risk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227832" y="4645152"/>
            <a:ext cx="2761488" cy="1572768"/>
          </a:xfrm>
          <a:prstGeom prst="roundRect">
            <a:avLst>
              <a:gd name="adj" fmla="val 8000"/>
            </a:avLst>
          </a:prstGeom>
          <a:solidFill>
            <a:srgbClr val="E8F4EB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>
                <a:solidFill>
                  <a:srgbClr val="1E7B34"/>
                </a:solidFill>
                <a:latin typeface="Arial"/>
              </a:rPr>
              <a:t>Operational &amp; legal viability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No endpoint agent, no payload, no data egress → clean under DPDP-style data-minimisation review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Audit dial sets worst-case detection time: ETTE = 1 / (audit_rate × P(detect | inspected))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Per-host risk tiers; at audit_rate = 1.0 it degrades gracefully to full inspection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30" b="0">
                <a:solidFill>
                  <a:srgbClr val="222222"/>
                </a:solidFill>
                <a:latin typeface="Arial"/>
              </a:rPr>
              <a:t>▪  Economics: confirmation threshold at 12.7% precision is worth ~$7.9M/yr at 100k hosts - a one-dimensional sweep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72200" y="1005840"/>
            <a:ext cx="566928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E06C18"/>
                </a:solidFill>
                <a:latin typeface="Arial"/>
              </a:rPr>
              <a:t>3. RISK REGISTER  -  named risk → the mitigation already designed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6172200" y="1261872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C2 model not empirically validated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8531352" y="1490472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8686800" y="1261872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Validate on CTU-13 Neris + own 5-day snaplen-0 capture; presented as architecture-complete, not proven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6172200" y="1874519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C2 needs 100 flows to activate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8531352" y="2103120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8686800" y="1874519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Session buffer over long captures; short snapshots route to DGA/exfil paths instead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6172200" y="2487168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CICFlowMeter dependency</a:t>
            </a:r>
          </a:p>
        </p:txBody>
      </p:sp>
      <p:sp>
        <p:nvSpPr>
          <p:cNvPr id="17444" name="Right Arrow 17443"/>
          <p:cNvSpPr/>
          <p:nvPr/>
        </p:nvSpPr>
        <p:spPr>
          <a:xfrm>
            <a:off x="8531352" y="2715768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8686800" y="248716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Fan-out backstop keeps 4 of 6 detectors plus port-scan coverage if extraction degrades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6172200" y="3099815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Thresholds do not transfer across networks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8531352" y="3328415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8686800" y="3099815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Mechanism transfers, threshold does not: per-site recalibration + visibility gate + drift monitor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6172200" y="3712463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Model is order-blind (ablation A−B = 0.000)</a:t>
            </a:r>
          </a:p>
        </p:txBody>
      </p:sp>
      <p:sp>
        <p:nvSpPr>
          <p:cNvPr id="17450" name="Right Arrow 17449"/>
          <p:cNvSpPr/>
          <p:nvPr/>
        </p:nvSpPr>
        <p:spPr>
          <a:xfrm>
            <a:off x="8531352" y="3941063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ectangle 17450"/>
          <p:cNvSpPr/>
          <p:nvPr/>
        </p:nvSpPr>
        <p:spPr>
          <a:xfrm>
            <a:off x="8686800" y="3712463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Claim withdrawn to 'we detect the combination and the shape' - not 'the sequence'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6172200" y="4325112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Scaler pinned to scikit-learn 1.3.2</a:t>
            </a:r>
          </a:p>
        </p:txBody>
      </p:sp>
      <p:sp>
        <p:nvSpPr>
          <p:cNvPr id="17453" name="Right Arrow 17452"/>
          <p:cNvSpPr/>
          <p:nvPr/>
        </p:nvSpPr>
        <p:spPr>
          <a:xfrm>
            <a:off x="8531352" y="4553712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8686800" y="4325112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Version pin in requirements; re-export scaler before any bump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6172200" y="4937759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Ed25519 keys are file-based</a:t>
            </a:r>
          </a:p>
        </p:txBody>
      </p:sp>
      <p:sp>
        <p:nvSpPr>
          <p:cNvPr id="17456" name="Right Arrow 17455"/>
          <p:cNvSpPr/>
          <p:nvPr/>
        </p:nvSpPr>
        <p:spPr>
          <a:xfrm>
            <a:off x="8531352" y="5166359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ectangle 17456"/>
          <p:cNvSpPr/>
          <p:nvPr/>
        </p:nvSpPr>
        <p:spPr>
          <a:xfrm>
            <a:off x="8686800" y="4937759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Filesystem permissions now; HSM/KMS integration is Phase 3 on the roadmap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6172200" y="5550407"/>
            <a:ext cx="2331720" cy="566928"/>
          </a:xfrm>
          <a:prstGeom prst="rect">
            <a:avLst/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E06C18"/>
                </a:solidFill>
                <a:latin typeface="Arial"/>
              </a:rPr>
              <a:t>Router blind spots (3.1% miss)</a:t>
            </a:r>
          </a:p>
        </p:txBody>
      </p:sp>
      <p:sp>
        <p:nvSpPr>
          <p:cNvPr id="17459" name="Right Arrow 17458"/>
          <p:cNvSpPr/>
          <p:nvPr/>
        </p:nvSpPr>
        <p:spPr>
          <a:xfrm>
            <a:off x="8531352" y="5779007"/>
            <a:ext cx="128016" cy="128016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Rectangle 17459"/>
          <p:cNvSpPr/>
          <p:nvPr/>
        </p:nvSpPr>
        <p:spPr>
          <a:xfrm>
            <a:off x="8686800" y="5550407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Permanent blind random audit - the only thing that catches student drift from the teacher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6172200" y="6144768"/>
            <a:ext cx="5669280" cy="73152"/>
          </a:xfrm>
          <a:prstGeom prst="rect">
            <a:avLst/>
          </a:prstGeom>
          <a:solidFill>
            <a:srgbClr val="1F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500" b="1">
                <a:solidFill>
                  <a:srgbClr val="1F3B64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3B64"/>
                </a:solidFill>
                <a:latin typeface="Arial"/>
              </a:rPr>
              <a:t>NetSentinel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05840"/>
            <a:ext cx="2201875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200" b="1">
                <a:solidFill>
                  <a:srgbClr val="1F3B64"/>
                </a:solidFill>
                <a:latin typeface="Arial"/>
              </a:rPr>
              <a:t>7 h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30" b="0">
                <a:solidFill>
                  <a:srgbClr val="5A5A5A"/>
                </a:solidFill>
                <a:latin typeface="Arial"/>
              </a:rPr>
              <a:t>earlier median detection
(hour 17 vs hour 24)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649931" y="1005840"/>
            <a:ext cx="2201875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200" b="1">
                <a:solidFill>
                  <a:srgbClr val="1F3B64"/>
                </a:solidFill>
                <a:latin typeface="Arial"/>
              </a:rPr>
              <a:t>96.9%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30" b="0">
                <a:solidFill>
                  <a:srgbClr val="5A5A5A"/>
                </a:solidFill>
                <a:latin typeface="Arial"/>
              </a:rPr>
              <a:t>of the teacher's flags
recovered at a 5% budget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979822" y="1005840"/>
            <a:ext cx="2201875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200" b="1">
                <a:solidFill>
                  <a:srgbClr val="1F3B64"/>
                </a:solidFill>
                <a:latin typeface="Arial"/>
              </a:rPr>
              <a:t>82.6%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30" b="0">
                <a:solidFill>
                  <a:srgbClr val="5A5A5A"/>
                </a:solidFill>
                <a:latin typeface="Arial"/>
              </a:rPr>
              <a:t>port-scan detection
at 7.4% false-positive rate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309713" y="1005840"/>
            <a:ext cx="2201875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200" b="1">
                <a:solidFill>
                  <a:srgbClr val="1F3B64"/>
                </a:solidFill>
                <a:latin typeface="Arial"/>
              </a:rPr>
              <a:t>0 bytes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30" b="0">
                <a:solidFill>
                  <a:srgbClr val="5A5A5A"/>
                </a:solidFill>
                <a:latin typeface="Arial"/>
              </a:rPr>
              <a:t>of payload inspected
privacy-preserving by design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639604" y="1005840"/>
            <a:ext cx="2201875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200" b="1">
                <a:solidFill>
                  <a:srgbClr val="1F3B64"/>
                </a:solidFill>
                <a:latin typeface="Arial"/>
              </a:rPr>
              <a:t>6 → 1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30" b="0">
                <a:solidFill>
                  <a:srgbClr val="5A5A5A"/>
                </a:solidFill>
                <a:latin typeface="Arial"/>
              </a:rPr>
              <a:t>detectors fused into one
correlated kill chain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2048256"/>
            <a:ext cx="566928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IMPACT CHAIN  -  from a passive sensor to a defensible decision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0040" y="2304288"/>
            <a:ext cx="56692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Passive sensor, zero payload   ➔   deploys where agents and inline boxes are banned</a:t>
            </a:r>
          </a:p>
        </p:txBody>
      </p:sp>
      <p:sp>
        <p:nvSpPr>
          <p:cNvPr id="17417" name="Down Arrow 17416"/>
          <p:cNvSpPr/>
          <p:nvPr/>
        </p:nvSpPr>
        <p:spPr>
          <a:xfrm>
            <a:off x="3017520" y="2788920"/>
            <a:ext cx="274320" cy="118872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907792"/>
            <a:ext cx="5669280" cy="475488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Six signals correlated per host   ➔   one kill chain instead of 3 orphan alerts</a:t>
            </a:r>
          </a:p>
        </p:txBody>
      </p:sp>
      <p:sp>
        <p:nvSpPr>
          <p:cNvPr id="17419" name="Down Arrow 17418"/>
          <p:cNvSpPr/>
          <p:nvPr/>
        </p:nvSpPr>
        <p:spPr>
          <a:xfrm>
            <a:off x="3017520" y="3392424"/>
            <a:ext cx="274320" cy="118872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3511296"/>
            <a:ext cx="56692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Hourly edge routing   ➔   7 hours earlier, 96.9% teacher fidelity at 5% cost</a:t>
            </a:r>
          </a:p>
        </p:txBody>
      </p:sp>
      <p:sp>
        <p:nvSpPr>
          <p:cNvPr id="17421" name="Down Arrow 17420"/>
          <p:cNvSpPr/>
          <p:nvPr/>
        </p:nvSpPr>
        <p:spPr>
          <a:xfrm>
            <a:off x="3017520" y="3995928"/>
            <a:ext cx="274320" cy="118872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320040" y="4114800"/>
            <a:ext cx="5669280" cy="475488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Proof-carrying alert   ➔   tamper-evident evidence: model, features, threshold, decision</a:t>
            </a:r>
          </a:p>
        </p:txBody>
      </p:sp>
      <p:sp>
        <p:nvSpPr>
          <p:cNvPr id="17423" name="Down Arrow 17422"/>
          <p:cNvSpPr/>
          <p:nvPr/>
        </p:nvSpPr>
        <p:spPr>
          <a:xfrm>
            <a:off x="3017520" y="4599432"/>
            <a:ext cx="274320" cy="118872"/>
          </a:xfrm>
          <a:prstGeom prst="downArrow">
            <a:avLst/>
          </a:prstGeom>
          <a:solidFill>
            <a:srgbClr val="1B6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320040" y="4718304"/>
            <a:ext cx="56692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Analyst acts on evidence   ➔   faster containment, lower breach cost, audit-ready record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172200" y="2048256"/>
            <a:ext cx="566928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WHO BENEFITS, AND HOW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72200" y="2304288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E8F4EB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>
                <a:solidFill>
                  <a:srgbClr val="1E7B34"/>
                </a:solidFill>
                <a:latin typeface="Arial"/>
              </a:rPr>
              <a:t>Air-gapped &amp; diode-separated sites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Defence, power, nuclear, rail: the only detection option when nothing may be installed on the endpoint and no traffic may leave.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3108960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F3B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>
                <a:solidFill>
                  <a:srgbClr val="1F3B64"/>
                </a:solidFill>
                <a:latin typeface="Arial"/>
              </a:rPr>
              <a:t>Government / PSU SOC teams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Cuts alert triage volume by fusing 6 detectors; MITRE-mapped alerts drop straight into CERT-In style reporting.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72200" y="3913632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6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>
                <a:solidFill>
                  <a:srgbClr val="E06C18"/>
                </a:solidFill>
                <a:latin typeface="Arial"/>
              </a:rPr>
              <a:t>MSMEs and academic networks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No per-endpoint licence, no cloud subscription, commodity hardware, open datasets - security within a small budget.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72200" y="4718304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>
                <a:solidFill>
                  <a:srgbClr val="5A5A5A"/>
                </a:solidFill>
                <a:latin typeface="Arial"/>
              </a:rPr>
              <a:t>Forensics, audit and courts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DSSE receipts + Merkle transparency log + deterministic replay make an alert reproducible months later.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72200" y="5559552"/>
            <a:ext cx="56692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>
                <a:solidFill>
                  <a:srgbClr val="1F3B64"/>
                </a:solidFill>
                <a:latin typeface="Arial"/>
              </a:rPr>
              <a:t>Wider benefit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Economic: ~$7.9M/yr of avoidable triage cost at 100k hosts sits behind one threshold.  Social: detection without payload surveillance.  Strategic: an indigenous, fully offline detection stack with no foreign cloud dependency.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500" b="1">
                <a:solidFill>
                  <a:srgbClr val="1F3B64"/>
                </a:solidFill>
                <a:latin typeface="Arial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3B64"/>
                </a:solidFill>
                <a:latin typeface="Arial"/>
              </a:rPr>
              <a:t>NetSentinel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05840"/>
            <a:ext cx="3749039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DATASETS USED (train / validate)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261872"/>
            <a:ext cx="1783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CIC-DDoS2019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2103120" y="1261872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DDoS model training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0040" y="1591055"/>
            <a:ext cx="178308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CIDDS-001 (week 2)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103120" y="1591055"/>
            <a:ext cx="196596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Port-scan SPSD training + validation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0040" y="1920239"/>
            <a:ext cx="1783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CICIDS2017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2103120" y="1920239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Cross-topology testing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20040" y="2249423"/>
            <a:ext cx="178308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DGArchive 2024 + Tranco 1M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103120" y="2249423"/>
            <a:ext cx="196596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DGA 3-class training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0040" y="2578607"/>
            <a:ext cx="1783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CIC-Bell-DNS-EXF-2021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2103120" y="2578607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Exfiltration VAE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20040" y="2907791"/>
            <a:ext cx="178308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VPN / non-VPN consolidated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2103120" y="2907791"/>
            <a:ext cx="196596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Encrypted-traffic FT-Transformer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20040" y="3236975"/>
            <a:ext cx="1783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CTU-13 Scenario 1 (Neris)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103120" y="3236975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C2 beacon validation - planned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20040" y="3566159"/>
            <a:ext cx="178308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1">
                <a:solidFill>
                  <a:srgbClr val="1F3B64"/>
                </a:solidFill>
                <a:latin typeface="Arial"/>
              </a:rPr>
              <a:t>LANL cyber1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2103120" y="3566159"/>
            <a:ext cx="1965960" cy="329184"/>
          </a:xfrm>
          <a:prstGeom prst="rect">
            <a:avLst/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Inspector / Sentry cascade evaluation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20040" y="4023360"/>
            <a:ext cx="3749039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REPOSITORY &amp; ARTEFACTS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0040" y="4279392"/>
            <a:ext cx="3749039" cy="1938528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3B64"/>
                </a:solidFill>
                <a:latin typeface="Arial"/>
              </a:rPr>
              <a:t>Code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netsentinel/ (extractor, models, pipeline, integrity, api) · netsentinel_v2/ (models.py, train.py, tiers.py) · frontend/ · tools/netsentinel_verify.py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80" b="1">
                <a:solidFill>
                  <a:srgbClr val="1F3B64"/>
                </a:solidFill>
                <a:latin typeface="Arial"/>
              </a:rPr>
              <a:t>Design documents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INSPECTOR_SENTRY_SPEC.md · docs/middle.md (threat model) · PROOF_CARRYING_ALERTS_IMPLEMENTATION_PLAN.md · docs/kj.md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80" b="1">
                <a:solidFill>
                  <a:srgbClr val="1F3B64"/>
                </a:solidFill>
                <a:latin typeface="Arial"/>
              </a:rPr>
              <a:t>Result files cited on this deck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lanl_novelty.json · paired_synth.json · shift_results.json · ablation_order_hard.json · deploy_c.json · tests/test_portscan.py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51960" y="1005840"/>
            <a:ext cx="370332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1F3B64"/>
                </a:solidFill>
                <a:latin typeface="Arial"/>
              </a:rPr>
              <a:t>LITERATURE &amp; STANDARDS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251960" y="1261872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GraphIDS (arXiv:2509.16625)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Graph-shaped NIDS; the Inspector's architecture follows it - we do not claim it as ours.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251960" y="1975104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91-study review of graph-based NIDS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No published system scores cross-service category combinations per host. That gap is our only novelty claim.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251960" y="2688336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MITRE ATT&amp;CK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T1498/T1499 DDoS · T1568.002 DGA · T1048 / T1071.004 exfil · T1071 / T1573 C2 &amp; encrypted channel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251960" y="3401568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Beaconing &amp; jitter literature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Cobalt Strike, Meterpreter, Sliver, Brute Ratel check-in periodicity; FFT / CV detection of automated timing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251960" y="4114800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in-toto Statement v1 + DSSE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Signed attestation envelope format for each alert receipt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251960" y="4828032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RFC 8785 (JCS), RFC 6962 (Merkle/CT), RFC 8032 (Ed25519)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Canonicalisation, transparency-log inclusion &amp; consistency proofs, signatures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251960" y="5541264"/>
            <a:ext cx="370332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6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>
                <a:solidFill>
                  <a:srgbClr val="1F3B64"/>
                </a:solidFill>
                <a:latin typeface="Arial"/>
              </a:rPr>
              <a:t>ONNX Runtime · XGBoost · Scapy · CICFlowMeter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Deterministic single-thread inference and the feature-extraction toolchain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138160" y="1005840"/>
            <a:ext cx="3703320" cy="2286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1">
                <a:solidFill>
                  <a:srgbClr val="E06C18"/>
                </a:solidFill>
                <a:latin typeface="Arial"/>
              </a:rPr>
              <a:t>CLAIMS DISCIPLINE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8138160" y="1261872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8F4EB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>
                <a:solidFill>
                  <a:srgbClr val="1E7B34"/>
                </a:solidFill>
                <a:latin typeface="Arial"/>
              </a:rPr>
              <a:t>WE CLAIM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▪  "The Sentry is a router, not a detector."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▪  "96.9% of the Inspector's flags are recovered at a 5% budget."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▪  "We detect the combination and the shape."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▪  "Within-host AUC 0.557 ± 0.013 on LANL - that is near chance, and it is our weakest number."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▪  "C2 beacon is architecture-complete, not yet validated on real botnet PCAP."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138160" y="347472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>
                <a:solidFill>
                  <a:srgbClr val="B32D2D"/>
                </a:solidFill>
                <a:latin typeface="Arial"/>
              </a:rPr>
              <a:t>WITHDRAWN BY OUR OWN TESTING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✕  "We detect the sequence" - order ablation moved AUC by 0.000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✕  "95% recall" / "96.9% recall" without "of the Inspector's flags"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✕  "0.745 AUC" quoted without the busy-host confound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✕  "13.7× faster" - that is a parameter ratio, not a speed measurement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✕  "94.7% GPU reduction" and "55% of DNS hidden by DoH" - retracted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138160" y="5367528"/>
            <a:ext cx="370332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3B64"/>
                </a:solidFill>
                <a:latin typeface="Arial"/>
              </a:rPr>
              <a:t>Open work, in priority order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90" b="0">
                <a:solidFill>
                  <a:srgbClr val="222222"/>
                </a:solidFill>
                <a:latin typeface="Arial"/>
              </a:rPr>
              <a:t>1. Run the own-capture corpus (5 days, snaplen 0) - the only corpus that can test the cross-service hypothesis.  2. Tune the confirmation threshold (12.7% precision).  3. Wire the trained router head into EdgeTier.  4. Test whether the Transformer earns its 74% of parameters.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